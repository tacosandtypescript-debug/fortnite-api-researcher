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313fc7edd4328" /><Relationship Type="http://schemas.openxmlformats.org/officeDocument/2006/relationships/extended-properties" Target="/docProps/app.xml" Id="R64263f62c66649e0" /><Relationship Type="http://schemas.openxmlformats.org/officeDocument/2006/relationships/officeDocument" Target="/ppt/presentation.xml" Id="Rdbd774f99e0a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bd9b9d4b7c4876"/>
  </p:sldMasterIdLst>
  <p:notesMasterIdLst>
    <p:notesMasterId xmlns:r="http://schemas.openxmlformats.org/officeDocument/2006/relationships" r:id="Rd1f313a0117e4686"/>
  </p:notesMasterIdLst>
  <p:sldIdLst>
    <p:sldId xmlns:r="http://schemas.openxmlformats.org/officeDocument/2006/relationships" id="256" r:id="Rf2e3a2a2d57d4089"/>
    <p:sldId xmlns:r="http://schemas.openxmlformats.org/officeDocument/2006/relationships" id="257" r:id="R38cd18c917284e91"/>
    <p:sldId xmlns:r="http://schemas.openxmlformats.org/officeDocument/2006/relationships" id="258" r:id="R4301c600282e4ee0"/>
    <p:sldId xmlns:r="http://schemas.openxmlformats.org/officeDocument/2006/relationships" id="259" r:id="Rdd4c530ca47a4b47"/>
    <p:sldId xmlns:r="http://schemas.openxmlformats.org/officeDocument/2006/relationships" id="260" r:id="R83650d5d83c84668"/>
    <p:sldId xmlns:r="http://schemas.openxmlformats.org/officeDocument/2006/relationships" id="261" r:id="Re3552e83459944a1"/>
    <p:sldId xmlns:r="http://schemas.openxmlformats.org/officeDocument/2006/relationships" id="262" r:id="R9a44c10bf6d64070"/>
    <p:sldId xmlns:r="http://schemas.openxmlformats.org/officeDocument/2006/relationships" id="263" r:id="Rde28021d438041d5"/>
    <p:sldId xmlns:r="http://schemas.openxmlformats.org/officeDocument/2006/relationships" id="264" r:id="Rc37dd0aaa8dc4af2"/>
    <p:sldId xmlns:r="http://schemas.openxmlformats.org/officeDocument/2006/relationships" id="265" r:id="R1a43e7843b634570"/>
    <p:sldId xmlns:r="http://schemas.openxmlformats.org/officeDocument/2006/relationships" id="266" r:id="R0830d2a63dc54e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34556bd0a742cc" /><Relationship Type="http://schemas.openxmlformats.org/officeDocument/2006/relationships/slideMaster" Target="/ppt/slideMasters/slideMaster1.xml" Id="R9ebd9b9d4b7c4876" /><Relationship Type="http://schemas.openxmlformats.org/officeDocument/2006/relationships/notesMaster" Target="/ppt/notesMasters/notesMaster1.xml" Id="Rd1f313a0117e4686" /><Relationship Type="http://schemas.openxmlformats.org/officeDocument/2006/relationships/presProps" Target="/ppt/presProps.xml" Id="R84892b42d43845f6" /><Relationship Type="http://schemas.openxmlformats.org/officeDocument/2006/relationships/tableStyles" Target="/ppt/tableStyles.xml" Id="R031302d986b5429d" /><Relationship Type="http://schemas.openxmlformats.org/officeDocument/2006/relationships/slide" Target="/ppt/slides/slide1.xml" Id="Rf2e3a2a2d57d4089" /><Relationship Type="http://schemas.openxmlformats.org/officeDocument/2006/relationships/slide" Target="/ppt/slides/slide2.xml" Id="R38cd18c917284e91" /><Relationship Type="http://schemas.openxmlformats.org/officeDocument/2006/relationships/slide" Target="/ppt/slides/slide3.xml" Id="R4301c600282e4ee0" /><Relationship Type="http://schemas.openxmlformats.org/officeDocument/2006/relationships/slide" Target="/ppt/slides/slide4.xml" Id="Rdd4c530ca47a4b47" /><Relationship Type="http://schemas.openxmlformats.org/officeDocument/2006/relationships/slide" Target="/ppt/slides/slide5.xml" Id="R83650d5d83c84668" /><Relationship Type="http://schemas.openxmlformats.org/officeDocument/2006/relationships/slide" Target="/ppt/slides/slide6.xml" Id="Re3552e83459944a1" /><Relationship Type="http://schemas.openxmlformats.org/officeDocument/2006/relationships/slide" Target="/ppt/slides/slide7.xml" Id="R9a44c10bf6d64070" /><Relationship Type="http://schemas.openxmlformats.org/officeDocument/2006/relationships/slide" Target="/ppt/slides/slide8.xml" Id="Rde28021d438041d5" /><Relationship Type="http://schemas.openxmlformats.org/officeDocument/2006/relationships/slide" Target="/ppt/slides/slide9.xml" Id="Rc37dd0aaa8dc4af2" /><Relationship Type="http://schemas.openxmlformats.org/officeDocument/2006/relationships/slide" Target="/ppt/slides/slide10.xml" Id="R1a43e7843b634570" /><Relationship Type="http://schemas.openxmlformats.org/officeDocument/2006/relationships/slide" Target="/ppt/slides/slide11.xml" Id="R0830d2a63dc54e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4bb09e6c240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ed899be184634" /><Relationship Type="http://schemas.openxmlformats.org/officeDocument/2006/relationships/notesMaster" Target="/ppt/notesMasters/notesMaster1.xml" Id="R58156747c78a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dcefaeaa794420" /><Relationship Type="http://schemas.openxmlformats.org/officeDocument/2006/relationships/notesMaster" Target="/ppt/notesMasters/notesMaster1.xml" Id="Rae4adde77bae47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f2a38702bf49c3" /><Relationship Type="http://schemas.openxmlformats.org/officeDocument/2006/relationships/notesMaster" Target="/ppt/notesMasters/notesMaster1.xml" Id="Rd7f41d61fb6a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a8b13264004cde" /><Relationship Type="http://schemas.openxmlformats.org/officeDocument/2006/relationships/notesMaster" Target="/ppt/notesMasters/notesMaster1.xml" Id="R99f0f6fb2bdd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ee7864eac44087" /><Relationship Type="http://schemas.openxmlformats.org/officeDocument/2006/relationships/notesMaster" Target="/ppt/notesMasters/notesMaster1.xml" Id="Re0c2f1e7273649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7fd8ef1ce6402c" /><Relationship Type="http://schemas.openxmlformats.org/officeDocument/2006/relationships/notesMaster" Target="/ppt/notesMasters/notesMaster1.xml" Id="R85bcde6254804f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7c13f432ee4622" /><Relationship Type="http://schemas.openxmlformats.org/officeDocument/2006/relationships/notesMaster" Target="/ppt/notesMasters/notesMaster1.xml" Id="Rfe7c859cc652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8233c7a9d34956" /><Relationship Type="http://schemas.openxmlformats.org/officeDocument/2006/relationships/notesMaster" Target="/ppt/notesMasters/notesMaster1.xml" Id="R12476471a40c41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d46df29edf4c90" /><Relationship Type="http://schemas.openxmlformats.org/officeDocument/2006/relationships/notesMaster" Target="/ppt/notesMasters/notesMaster1.xml" Id="R9e2d0fd89be5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3de7e647694c6a" /><Relationship Type="http://schemas.openxmlformats.org/officeDocument/2006/relationships/notesMaster" Target="/ppt/notesMasters/notesMaster1.xml" Id="Rbdb5b556671c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1d51ca5cda4a4b" /><Relationship Type="http://schemas.openxmlformats.org/officeDocument/2006/relationships/notesMaster" Target="/ppt/notesMasters/notesMaster1.xml" Id="R10fc2dbfb666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 visual: official-event-hero-nac.jpg, descargado de la fuente pública de Epic/CDN y validado a 1920×1080.</a:t>
            </a:r>
          </a:p>
          <a:p xmlns:a="http://schemas.openxmlformats.org/drawingml/2006/main">
            <a:r>
              <a:t>El guion y los tiempos provienen de salidas/20260910T170634Z-guion-video-weezy-icon-cup.md.</a:t>
            </a:r>
          </a:p>
          <a:p xmlns:a="http://schemas.openxmlformats.org/drawingml/2006/main">
            <a:r>
              <a:t>Fuentes: https://www.fortnite.com/competitive/events/S42_WeezyIconCup?region=NAC&amp;round=S42_WeezyIconCup_NAC</a:t>
            </a:r>
          </a:p>
          <a:p xmlns:a="http://schemas.openxmlformats.org/drawingml/2006/main">
            <a:r>
              <a:t>API de catálogo: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visual: official-event-hero-nac.jpg, arte oficial de Epic/CDN, 1920×1080.</a:t>
            </a:r>
          </a:p>
          <a:p xmlns:a="http://schemas.openxmlformats.org/drawingml/2006/main">
            <a:r>
              <a:t>Guion: sección Hook, 0:00–0:07, de salidas/20260910T170634Z-guion-video-weezy-icon-cup.md.</a:t>
            </a:r>
          </a:p>
          <a:p xmlns:a="http://schemas.openxmlformats.org/drawingml/2006/main">
            <a:r>
              <a:t>No añadir texto dentro del archivo de imagen. El texto mostrado en el preview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Póster visual: tournament-post.jpg, publicación pública de FNcompReport.</a:t>
            </a:r>
          </a:p>
          <a:p xmlns:a="http://schemas.openxmlformats.org/drawingml/2006/main">
            <a:r>
              <a:t>Fuente del anuncio comunitario: https://x.com/fncompreport/status/2098080878320619883?s=46</a:t>
            </a:r>
          </a:p>
          <a:p xmlns:a="http://schemas.openxmlformats.org/drawingml/2006/main">
            <a:r>
              <a:t>Confirmación oficial: https://www.fortnite.com/competitive/events/S42_WeezyIconCup?region=NAC&amp;round=S42_WeezyIconCup_NAC</a:t>
            </a:r>
          </a:p>
          <a:p xmlns:a="http://schemas.openxmlformats.org/drawingml/2006/main">
            <a:r>
              <a:t>El texto de fecha, región y modos es una capa editable del storyboard.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loadingscreen-noiseclue-images.other.background.png, imagen de catálogo Fortnite-API.com.</a:t>
            </a:r>
          </a:p>
          <a:p xmlns:a="http://schemas.openxmlformats.org/drawingml/2006/main">
            <a:r>
              <a:t>Atuendos: character-noisecluegust-images.featured.png, registro Weezy; character-noisecluelurch-images.featured.png, registro Lil Wayne.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  <a:p xmlns:a="http://schemas.openxmlformats.org/drawingml/2006/main">
            <a:r>
              <a:t>Los renders de la API son assets de catálogo, no banners oficiales de Epic.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 Fortnite-API.com: backpack-noisecluegust-images.featured.png, pickaxe-noisecluegust-images.featured.png, glider-noisecluelurch-images.featured.png, wrap-noiseclue-images.featured.png y emoticon-noiseclue-images.smallicon.png.</a:t>
            </a:r>
          </a:p>
          <a:p xmlns:a="http://schemas.openxmlformats.org/drawingml/2006/main">
            <a:r>
              <a:t>Endpoint de catálogo: https://fortnite-api.com/v2/cosmetics/br/search/all?set=Lil%20Wayne&amp;matchMethod=full&amp;language=en</a:t>
            </a:r>
          </a:p>
          <a:p xmlns:a="http://schemas.openxmlformats.org/drawingml/2006/main">
            <a:r>
              <a:t>La composición usa los PNG originales sin cambiar el contenido.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Detalle y variantes: character-noisecluegust-images.icon.png y character-noisecluegust-variants-*.png; variantes de Lil Wayne en character-noisecluelurch-variants-*.png.</a:t>
            </a:r>
          </a:p>
          <a:p xmlns:a="http://schemas.openxmlformats.org/drawingml/2006/main">
            <a:r>
              <a:t>Los nombres descriptivos de la locución siguen el resumen del catálogo. No se asignan etiquetas nuevas a cada miniatura.</a:t>
            </a:r>
          </a:p>
          <a:p xmlns:a="http://schemas.openxmlformats.org/drawingml/2006/main">
            <a:r>
              <a:t>Endpoint: https://fortnite-api.com/v2/cosmetics/br/search/all?set=Lil%20Wayne&amp;matchMethod=full&amp;language=en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Carátulas: sid-placeholder-870-albumart.jpg, sid-placeholder-871-albumart.jpg y sid-placeholder-872-albumart.jpg, campos albumArt de Fortnite-API.com.</a:t>
            </a:r>
          </a:p>
          <a:p xmlns:a="http://schemas.openxmlformats.org/drawingml/2006/main">
            <a:r>
              <a:t>Instrumento: pickaxe-noiseclue-guitar-images.featured.png, registro Tha Guitar.</a:t>
            </a:r>
          </a:p>
          <a:p xmlns:a="http://schemas.openxmlformats.org/drawingml/2006/main">
            <a:r>
              <a:t>Tracks: https://fortnite-api.com/v2/cosmetics/tracks?language=en</a:t>
            </a:r>
          </a:p>
          <a:p xmlns:a="http://schemas.openxmlformats.org/drawingml/2006/main">
            <a:r>
              <a:t>Instrumentos: https://fortnite-api.com/v2/cosmetics/instruments?language=en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arte oficial de Epic/CDN.</a:t>
            </a:r>
          </a:p>
          <a:p xmlns:a="http://schemas.openxmlformats.org/drawingml/2006/main">
            <a:r>
              <a:t>Clip original: official-teaser.mp4, 1920×1080, aproximadamente 9.8 s. El frame de referencia se extrajo a 00:02 para ubicar el clip en el montaje.</a:t>
            </a:r>
          </a:p>
          <a:p xmlns:a="http://schemas.openxmlformats.org/drawingml/2006/main">
            <a:r>
              <a:t>Ficha oficial: https://www.fortnite.com/competitive/events/S42_WeezyIconCup?region=NAC&amp;round=S42_WeezyIconCup_NAC</a:t>
            </a:r>
          </a:p>
          <a:p xmlns:a="http://schemas.openxmlformats.org/drawingml/2006/main">
            <a:r>
              <a:t>Horario: https://www.fortnite.com/competitive/events/S42_WeezyIconCup/schedule?region=NAC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Fondo: official-event-hero-nac.jpg, usado como background con overlay.</a:t>
            </a:r>
          </a:p>
          <a:p xmlns:a="http://schemas.openxmlformats.org/drawingml/2006/main">
            <a:r>
              <a:t>Datos de puntuación, límite de partidas y desempates: feed público de Fortnite Tracker, leído en la investigación.</a:t>
            </a:r>
          </a:p>
          <a:p xmlns:a="http://schemas.openxmlformats.org/drawingml/2006/main">
            <a:r>
              <a:t>Battle Royale: https://fortnitetracker.com/events/epicgames_S42_WeezyIconCup_NAC</a:t>
            </a:r>
          </a:p>
          <a:p xmlns:a="http://schemas.openxmlformats.org/drawingml/2006/main">
            <a:r>
              <a:t>Zero Build: https://fortnitetracker.com/events/epicgames_S42_WeezyIconCup_ZB_NAC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Assets: character-noisecluegust-images.icon.png, backpack-noisecluegust-images.featured.png y emoticon-noiseclue-images.smallicon.png.</a:t>
            </a:r>
          </a:p>
          <a:p xmlns:a="http://schemas.openxmlformats.org/drawingml/2006/main">
            <a:r>
              <a:t>Premios leídos del feed público: https://fortnitetracker.com/events/epicgames_S42_WeezyIconCup_NAC</a:t>
            </a:r>
          </a:p>
          <a:p xmlns:a="http://schemas.openxmlformats.org/drawingml/2006/main">
            <a:r>
              <a:t>La ficha oficial describe la recompensa como acceso al lote Weezy. No presentarlo como dinero ni como las dos skins completas.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Fondo final: official-event-hero-nac.jpg. Clip original para usar en edición: official-teaser.mp4.</a:t>
            </a:r>
          </a:p>
          <a:p xmlns:a="http://schemas.openxmlformats.org/drawingml/2006/main">
            <a:r>
              <a:t>Fuente oficial del evento: https://www.fortnite.com/competitive/events/S42_WeezyIconCup?region=NAC&amp;round=S42_WeezyIconCup_NAC</a:t>
            </a:r>
          </a:p>
          <a:p xmlns:a="http://schemas.openxmlformats.org/drawingml/2006/main">
            <a:r>
              <a:t>El guion pide un cierre responsable porque el feed y el horario pueden actualizarse antes de iniciar.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5eb40031448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ced5cca224340" /><Relationship Type="http://schemas.openxmlformats.org/officeDocument/2006/relationships/slideLayout" Target="/ppt/slideLayouts/slideLayout1.xml" Id="Rab856dde6dcd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56dde6dcd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bd40598a243da" /><Relationship Type="http://schemas.openxmlformats.org/officeDocument/2006/relationships/image" Target="/ppt/media/image.jpeg" Id="R5e0f02231f214201" /><Relationship Type="http://schemas.openxmlformats.org/officeDocument/2006/relationships/notesSlide" Target="/ppt/notesSlides/notesSlide1.xml" Id="Rce54830b567547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1f9802424daa" /><Relationship Type="http://schemas.openxmlformats.org/officeDocument/2006/relationships/image" Target="/ppt/media/image2.jpeg" Id="Rc8b03dc586c74cbd" /><Relationship Type="http://schemas.openxmlformats.org/officeDocument/2006/relationships/notesSlide" Target="/ppt/notesSlides/notesSlide2.xml" Id="R653026438381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1a4e810474989" /><Relationship Type="http://schemas.openxmlformats.org/officeDocument/2006/relationships/image" Target="/ppt/media/image3.jpeg" Id="R98a47cc6dd214c1b" /><Relationship Type="http://schemas.openxmlformats.org/officeDocument/2006/relationships/image" Target="/ppt/media/image4.jpeg" Id="Rd68f29429e46427c" /><Relationship Type="http://schemas.openxmlformats.org/officeDocument/2006/relationships/notesSlide" Target="/ppt/notesSlides/notesSlide3.xml" Id="R978da9727d4342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454e21196417b" /><Relationship Type="http://schemas.openxmlformats.org/officeDocument/2006/relationships/image" Target="/ppt/media/image.png" Id="R8638292d4df6480a" /><Relationship Type="http://schemas.openxmlformats.org/officeDocument/2006/relationships/image" Target="/ppt/media/image2.png" Id="Rb785b6ba10e24b83" /><Relationship Type="http://schemas.openxmlformats.org/officeDocument/2006/relationships/image" Target="/ppt/media/image3.png" Id="R8da3765453d046a8" /><Relationship Type="http://schemas.openxmlformats.org/officeDocument/2006/relationships/notesSlide" Target="/ppt/notesSlides/notesSlide4.xml" Id="R52f9c40317064c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b1cd7da574874" /><Relationship Type="http://schemas.openxmlformats.org/officeDocument/2006/relationships/image" Target="/ppt/media/image4.png" Id="R88dec3967fd24979" /><Relationship Type="http://schemas.openxmlformats.org/officeDocument/2006/relationships/image" Target="/ppt/media/image5.png" Id="R2478abf86f744639" /><Relationship Type="http://schemas.openxmlformats.org/officeDocument/2006/relationships/image" Target="/ppt/media/image6.png" Id="Ra5ee94db8bd34ebb" /><Relationship Type="http://schemas.openxmlformats.org/officeDocument/2006/relationships/image" Target="/ppt/media/image7.png" Id="R04bd7c5e9cde483f" /><Relationship Type="http://schemas.openxmlformats.org/officeDocument/2006/relationships/image" Target="/ppt/media/image8.png" Id="R166ff389585f4b1e" /><Relationship Type="http://schemas.openxmlformats.org/officeDocument/2006/relationships/notesSlide" Target="/ppt/notesSlides/notesSlide5.xml" Id="R5aff5a8cb9e545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4f96c191a458a" /><Relationship Type="http://schemas.openxmlformats.org/officeDocument/2006/relationships/image" Target="/ppt/media/image9.png" Id="R06ec2a9fc94d4c67" /><Relationship Type="http://schemas.openxmlformats.org/officeDocument/2006/relationships/image" Target="/ppt/media/image10.png" Id="R44aa285612aa4613" /><Relationship Type="http://schemas.openxmlformats.org/officeDocument/2006/relationships/image" Target="/ppt/media/image11.png" Id="R8a8fe85ba94f46e5" /><Relationship Type="http://schemas.openxmlformats.org/officeDocument/2006/relationships/image" Target="/ppt/media/image12.png" Id="R16bf43e1bcb84b77" /><Relationship Type="http://schemas.openxmlformats.org/officeDocument/2006/relationships/image" Target="/ppt/media/image13.png" Id="R67da1370f7824351" /><Relationship Type="http://schemas.openxmlformats.org/officeDocument/2006/relationships/image" Target="/ppt/media/image14.png" Id="R5fdbc0c55fe94f71" /><Relationship Type="http://schemas.openxmlformats.org/officeDocument/2006/relationships/image" Target="/ppt/media/image15.png" Id="R18c5544d8ea048b8" /><Relationship Type="http://schemas.openxmlformats.org/officeDocument/2006/relationships/notesSlide" Target="/ppt/notesSlides/notesSlide6.xml" Id="R7b28faa553c2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36ae3728d4662" /><Relationship Type="http://schemas.openxmlformats.org/officeDocument/2006/relationships/image" Target="/ppt/media/image5.jpeg" Id="R87a795cb768b4d08" /><Relationship Type="http://schemas.openxmlformats.org/officeDocument/2006/relationships/image" Target="/ppt/media/image6.jpeg" Id="Rb366f97ed6d54c82" /><Relationship Type="http://schemas.openxmlformats.org/officeDocument/2006/relationships/image" Target="/ppt/media/image7.jpeg" Id="R3c2751682f514cee" /><Relationship Type="http://schemas.openxmlformats.org/officeDocument/2006/relationships/image" Target="/ppt/media/image16.png" Id="R01a9d6a9950e4325" /><Relationship Type="http://schemas.openxmlformats.org/officeDocument/2006/relationships/notesSlide" Target="/ppt/notesSlides/notesSlide7.xml" Id="R290962cb25174d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cc1d1bfd4cc8" /><Relationship Type="http://schemas.openxmlformats.org/officeDocument/2006/relationships/image" Target="/ppt/media/image8.jpeg" Id="R75e6e094dc59456b" /><Relationship Type="http://schemas.openxmlformats.org/officeDocument/2006/relationships/image" Target="/ppt/media/image9.jpeg" Id="Rb4322b50d33e4849" /><Relationship Type="http://schemas.openxmlformats.org/officeDocument/2006/relationships/notesSlide" Target="/ppt/notesSlides/notesSlide8.xml" Id="Rac3f19bc6c4342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cdc7c3bda4274" /><Relationship Type="http://schemas.openxmlformats.org/officeDocument/2006/relationships/image" Target="/ppt/media/image10.jpeg" Id="Re7c6a49fc0764337" /><Relationship Type="http://schemas.openxmlformats.org/officeDocument/2006/relationships/notesSlide" Target="/ppt/notesSlides/notesSlide9.xml" Id="R135bb015ffe04b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e48221950465f" /><Relationship Type="http://schemas.openxmlformats.org/officeDocument/2006/relationships/image" Target="/ppt/media/image17.png" Id="R03add63d59ae492a" /><Relationship Type="http://schemas.openxmlformats.org/officeDocument/2006/relationships/image" Target="/ppt/media/image18.png" Id="Ra5e79000c52d4dba" /><Relationship Type="http://schemas.openxmlformats.org/officeDocument/2006/relationships/image" Target="/ppt/media/image19.png" Id="R75c139d6d0014f3e" /><Relationship Type="http://schemas.openxmlformats.org/officeDocument/2006/relationships/notesSlide" Target="/ppt/notesSlides/notesSlide10.xml" Id="Ra39c83c1fc5b46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7af20197488d" /><Relationship Type="http://schemas.openxmlformats.org/officeDocument/2006/relationships/image" Target="/ppt/media/image11.jpeg" Id="R6ea685ca74534993" /><Relationship Type="http://schemas.openxmlformats.org/officeDocument/2006/relationships/notesSlide" Target="/ppt/notesSlides/notesSlide11.xml" Id="R49a853d39d9a41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f02231f2142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B27D9-3427-4B81-93E5-F17803C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04987-380D-4CE1-AAED-B013CE5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46DA8-2E1A-4B90-89FF-C0DDF7E4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EE09F-4E6A-449A-B16E-B3F5B19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953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6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5F4D3-F31B-4937-BB30-F78CBB6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STORYBOARD DE MONTAJE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1DBDE-A20C-4205-94E2-31780C5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288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575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4E8"/>
                </a:solidFill>
                <a:latin typeface="Arial"/>
                <a:ea typeface="Arial"/>
                <a:cs typeface="Arial"/>
              </a:rPr>
              <a:t>Guía visual para un video informativo de 60–90 segundos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B23AB-391B-419A-98DF-ADD706AF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BBC8"/>
                </a:solidFill>
                <a:latin typeface="Arial"/>
                <a:ea typeface="Arial"/>
                <a:cs typeface="Arial"/>
              </a:rPr>
              <a:t>FORMATO FINAL 16:9 · 1920 × 1080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68E69-B2BA-44D3-9A7D-E969611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8671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17C34-0223-479D-97A9-17ACC38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148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4E8"/>
                </a:solidFill>
                <a:latin typeface="Arial"/>
                <a:ea typeface="Arial"/>
                <a:cs typeface="Arial"/>
              </a:rPr>
              <a:t>00:00 HOOK     00:17 API     00:39 FESTIVAL     00:50 COPA     01:12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A9657-CF85-445D-AE04-28EB56D0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8BBC8"/>
                </a:solidFill>
                <a:latin typeface="Arial"/>
                <a:ea typeface="Arial"/>
                <a:cs typeface="Arial"/>
              </a:rPr>
              <a:t>Assets reales del paquete de investigación Weezy Icon Cup</a:t>
            </a:r>
          </a:p>
        </p:txBody>
      </p:sp>
    </p:spTree>
    <p:extLst>
      <p:ext uri="{BB962C8B-B14F-4D97-AF65-F5344CB8AC3E}">
        <p14:creationId xmlns:p14="http://schemas.microsoft.com/office/powerpoint/2010/main" val="148527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604FB-6E10-4D2C-81A2-099E0255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0A584-8118-4C53-BC92-11BC6FC3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EA8A5-837E-4250-9F96-F0B575F5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D9649-36FC-449B-82FD-59886AFA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00:00–00:07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220F0-91A5-4A59-BBF4-7F5DA66F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Hook: Lil Wayne llega a Fortnite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594F-6CBB-4C2A-BAE8-17E3D441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C49E1-B8C0-4CA9-BA44-37D1F03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12F27-0E37-455E-B09B-A7674E5D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NAC a pantalla completa. El espacio rojo de la derecha sostiene el texto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99096-38C7-45A1-9276-7EBA5596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10D0A-4B55-4D1A-8F5B-8BD6EDE1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 corte desde negro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00:00.3 entra el título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 sale con corte seco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E527F-A544-4D9C-8260-2D629BD0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79A9C-93FB-4CBC-9965-165E1104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Push-in lento 100% → 103%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Pulso corto en el resplandor naranja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deformar el arte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8C8FC-4AE6-4223-9344-ADDCF91F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BA604-9FAF-4C36-BBBB-0A3D05B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D8306-5B19-44E9-8EF1-21D3A52D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imagen funciona como plano de apertura. Mantén visible a Lil Wayne y la copa. El texto añadido es editable y sirve como propuesta de pantalla.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7F9EB-908B-45AD-973F-A704CA6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74B4F-86E7-4F95-AC58-036B271F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AF946-1215-4B7A-9672-5A8F0E8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A805E-92B4-428E-B184-DBE0235A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“Lil Wayne está llegando a Fortnite y la Weezy Icon Cup ya tiene una pista muy fuerte.”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86D73-70F6-43AC-8155-57DB7AD1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7AAEE-2F36-4CA9-977D-FD48A259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D9E2E-3112-4513-BEEC-65FBAE7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en pantalla: “LA API REVELÓ EL PAQUETE”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Fondo musical + locución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59A86-5223-4FCC-A51D-FC4CC8F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951C5-4CFA-4E4E-92EC-E94992F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01 · 00:00–00:07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0507E-614B-4DD5-90FE-0F09634F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03dc586c74c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8BEA4-B4CB-4B07-828B-D74E0BB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7ED63-E3EB-4C14-93EB-412FBBE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90850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D9D8E-B862-4480-91C5-10C07B3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623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17"/>
          </a:bodyPr>
          <a:lstStyle xmlns:a="http://schemas.openxmlformats.org/drawingml/2006/main"/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API REVELÓ</a:t>
            </a:r>
          </a:p>
          <a:p xmlns:a="http://schemas.openxmlformats.org/drawingml/2006/main">
            <a:pPr>
              <a:lnSpc>
                <a:spcPct val="83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PAQUETE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824909-84FE-4EDC-AC95-730B1D9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863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15B18-DD26-4ECD-994A-C4D4521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43450"/>
            <a:ext cx="1924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ARTE OFICIAL · HERO NAC</a:t>
            </a:r>
          </a:p>
        </p:txBody>
      </p:sp>
    </p:spTree>
    <p:extLst>
      <p:ext uri="{BB962C8B-B14F-4D97-AF65-F5344CB8AC3E}">
        <p14:creationId xmlns:p14="http://schemas.microsoft.com/office/powerpoint/2010/main" val="186605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CD48F-5F00-45A6-AA0C-780322C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D44CE-1437-4278-85A3-FEAFDFF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AC707-BB05-43D7-A6F1-1F2325F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ADC58-0BE9-4C6B-9B7F-EC34F20A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E9132-C5CF-4F28-B51D-735E4566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Del reporte a la ficha oficial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91B99-0FEE-4C32-A2D7-E9BFFA48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A0FF5-5A2B-45B7-96DA-9FACA42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9F1CE-8837-425D-BD2E-ADF70659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Póster de FNcompReport primero. El arte oficial entra como confirmación visual en el segundo beat.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F4171-259E-41D2-A05F-337F46C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C0568-98D4-4564-AB6B-2AE6B8D3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00:07–00:11 póster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00:11–00:17 ficha oficial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 fecha permanece 2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3C153-8AC1-4356-9128-7B6B57A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75F53-2647-4F38-9758-2BEC6BF7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Wipe horizontal del póster al arte Epic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 zoom-out en el segundo panel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 limpio al siguiente plano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DBE18-1173-4E44-AC9F-3852C0EF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16914-85C0-454B-9139-5FA8840A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0BF60-8020-428D-98F2-F56013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composición muestra la progresión de evidencia. La hora corresponde a NAC y debe verificarse en el cliente si cambia la región.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2D7BD-8A8E-4F50-9F9E-5D98766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49B16-879A-4C70-A3D8-F06E1A1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60A7F-976C-42C6-ADB0-1F15089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6E70B-B01B-4273-AE2B-CF2733C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reporte adelantó una copa para el sábado 12 de septiembre. Ya no es solo un rumor: la ficha oficial la muestra para NAC.”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3729B-5B3B-4732-AB49-5D0CFE34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EBC7D-4657-48D0-AD6E-654BD7DB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6D2CF-8BAD-4E9E-A10D-5AADC67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tournament-post.jpg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Texto: “NAC · 12 SEP · SOLO BR / ZB”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C1A48A-4E6E-4CE4-AE8E-7028DBF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42648-FCE2-4482-B774-EFE3C28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02 · 00:07–00:17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5942D-C6F0-441B-94D6-D131D60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126E5-9759-4B86-84DB-78F747B4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47cc6dd214c1b"/>
          <a:stretch xmlns:a="http://schemas.openxmlformats.org/drawingml/2006/main"/>
        </p:blipFill>
        <p:spPr>
          <a:xfrm xmlns:a="http://schemas.openxmlformats.org/drawingml/2006/main">
            <a:off x="3764" y="914400"/>
            <a:ext cx="4945473" cy="278130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f29429e46427c"/>
          <a:stretch xmlns:a="http://schemas.openxmlformats.org/drawingml/2006/main"/>
        </p:blipFill>
        <p:spPr>
          <a:xfrm xmlns:a="http://schemas.openxmlformats.org/drawingml/2006/main">
            <a:off x="4953000" y="1126331"/>
            <a:ext cx="4191000" cy="2357438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BF15A-C523-4B40-AB43-95A96196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0"/>
            <a:ext cx="3429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AE2C3-1637-45F1-A123-6726B51F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REPORTE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6C7A7-68BC-4E0B-A405-44AA9EB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EPIC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5B1E09-1E5C-4A5E-93EB-F71B5A0A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361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439EF1-5A2F-4846-A62D-C8AD1BE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195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37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NAC · 12 SEP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SOLO BR / SOLO ZERO BUILD</a:t>
            </a:r>
          </a:p>
        </p:txBody>
      </p:sp>
    </p:spTree>
    <p:extLst>
      <p:ext uri="{BB962C8B-B14F-4D97-AF65-F5344CB8AC3E}">
        <p14:creationId xmlns:p14="http://schemas.microsoft.com/office/powerpoint/2010/main" val="866422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0F5551-56CC-41CC-AFC6-54BEE40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0CEBD-D509-4F1D-8F3A-195F0197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A23B5-F2D9-41B3-8532-64182447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7E959-16E2-4B9B-A180-3B9BA89E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00:17–00:25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A7AB8-951B-4F62-80E1-31F8EA87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La búsqueda exacta devuelve 13 objetos BR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7869-BE6F-4D21-897D-3989069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37E87-1ED7-4578-BDF5-A86189C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12CFE-BE53-4431-98D6-1CF71FD2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renders de atuendo sobre la pantalla de carga. El título fija el hallazgo principal.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1E4EC-D6BF-4622-9120-C4ABD84B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BB5E5-9744-429D-AB3F-D97372B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00:17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00:19 entra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00:21 aparece “13 OBJETOS BR”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 corta a accesorios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380C5-395A-4BE8-9037-0A22D16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95A48-396D-4880-BDDD-F02868E1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Entrada escalonada con escala 92% → 100%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Glow naranja muy sutil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Parallax de fondo al 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56A7D-C6E9-4656-9B69-FD19AD7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6E4E0-47B6-4AEA-B29B-AE9CD677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B5F3B-6691-4DBA-A200-2AE5706B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registros del catálogo. La diapositiva no afirma disponibilidad en tienda ni premio automático.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E19FC-4D8D-4A1D-A7FF-F99ACEF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D88CB-E76A-49CA-BD7C-2F6E701C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30DC6-89CC-490B-9A23-55707052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8B41E-E373-4C8B-AE7D-A8D73CC4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búsqueda exacta del set Lil Wayne devuelve 13 objetos de Battle Royale.”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1DF97-F210-4F34-9192-8D931CEC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36697-DC97-4A3E-BE32-0D3E73A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61F80-2564-4D29-B290-5A69313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66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loadingscreen-noiseclue-images.other.background.png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character-noisecluelurch-images.featured.png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editable: “SET LIL WAYNE · 13 OBJETOS BR”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499F6-84F3-46F2-A646-36E792C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863FC-BADC-456C-B712-B6BA626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03 · 00:17–00:25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D57A0-DCC9-4B7B-8EC9-78E169C0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8292d4df6480a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656D7-27AB-4E98-89E7-642E2D14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5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03302-C990-4602-9651-C1ED9DE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8105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F880B-5BA0-4BC4-A075-DE6C1F30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LIL WAYNE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04227-CE53-4C4E-AD87-B126FED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971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13 OBJETOS BR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5b6ba10e24b83"/>
          <a:stretch xmlns:a="http://schemas.openxmlformats.org/drawingml/2006/main"/>
        </p:blipFill>
        <p:spPr>
          <a:xfrm xmlns:a="http://schemas.openxmlformats.org/drawingml/2006/main">
            <a:off x="762000" y="1547813"/>
            <a:ext cx="3238500" cy="323850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3765453d046a8"/>
          <a:stretch xmlns:a="http://schemas.openxmlformats.org/drawingml/2006/main"/>
        </p:blipFill>
        <p:spPr>
          <a:xfrm xmlns:a="http://schemas.openxmlformats.org/drawingml/2006/main">
            <a:off x="5238750" y="1547813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D1348-28F5-46BF-9B49-3159D5AA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C688C-9ACB-4188-BD02-1F0E11AF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482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· SKIN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4902B-968C-4B7A-8644-5B1A376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91050"/>
            <a:ext cx="1952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1FC81D-3A97-4052-9D90-EB275A0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48200"/>
            <a:ext cx="1781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 · SKIN</a:t>
            </a:r>
          </a:p>
        </p:txBody>
      </p:sp>
    </p:spTree>
    <p:extLst>
      <p:ext uri="{BB962C8B-B14F-4D97-AF65-F5344CB8AC3E}">
        <p14:creationId xmlns:p14="http://schemas.microsoft.com/office/powerpoint/2010/main" val="4962471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A1DB64-CAE6-4C9B-B069-601BD07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945FB-A552-4C0B-BB5B-9EFDE1F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A98E8-BEF4-4A4F-8983-5EED4A54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B45A8-D929-45ED-8B51-EF4C2450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D642F-786E-403F-BB66-5A66FB0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Primer burst de accesorios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7522B-3957-4D6F-9605-159595DF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80BC6-916E-4715-91F1-7264E123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C764C-42E8-4EE9-967F-D7B68FD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Montaje rápido de mochila, pico, ala delta, envoltura y emoticono sobre fondo limpio.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5FB72-4143-4AB6-9F33-B0A9B921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6462D-EBD4-42B9-BC0D-1CE5B08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00:25–00:26 mochila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00:26–00:27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00:27–00:28 ala delta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00:28–00:30 resto del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AA604-1156-45DB-AE0E-279F95E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7D126-FFD1-4F85-BB29-D3A9A1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Pop-in por golpes de beat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Rotación ligera solo en el pico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Speed-ramp al pasar de izquierda a derecha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3C378-F110-4451-8BCD-1CF8E238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26010-4E8B-4943-9A3F-25F60C0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938E7-2A21-4AF6-AAE3-2B9BEA97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Cada objeto conserva su proporción. Las etiquetas indican el tipo de cosmético para facilitar la edición.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8C5D9-E0A8-4A4A-992B-A99308B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1FC06-6AE3-456A-81F6-40E15923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3F6B7-D9E5-42E4-92FE-45EB3016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D4FB7-F231-48EA-8621-12C0123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“También aparecen accesorios mochileros, picos, un ala delta, una envoltura y un emoticono.”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61844-E22A-4A52-BB78-ABD3A8B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A717C-91EE-4A32-906C-374B7A5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70D4B-26EA-406D-8CF6-80E9890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 · accesorio mochilero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Weezy Boardbreaker · pico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Young Money Stage · ala delta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Burner · envoltura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F9EEC-7263-4F0A-A477-9B92B8E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AF3C0-B8AB-4B86-8F6B-2C6101F1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04 · 00:25–00:30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5DDAB-3F38-49B7-8738-D642132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60755-63CD-4083-A4A1-4FD0A35C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90A0A"/>
              </a:gs>
              <a:gs pos="58000">
                <a:srgbClr val="410E0E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5BCF3-8317-4C1C-BB1F-99FC3875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42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ACCESORIOS DEL SET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ec3967fd24979"/>
          <a:stretch xmlns:a="http://schemas.openxmlformats.org/drawingml/2006/main"/>
        </p:blipFill>
        <p:spPr>
          <a:xfrm xmlns:a="http://schemas.openxmlformats.org/drawingml/2006/main">
            <a:off x="304800" y="14287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8abf86f744639"/>
          <a:stretch xmlns:a="http://schemas.openxmlformats.org/drawingml/2006/main"/>
        </p:blipFill>
        <p:spPr>
          <a:xfrm xmlns:a="http://schemas.openxmlformats.org/drawingml/2006/main">
            <a:off x="2095500" y="1471613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e94db8bd34ebb"/>
          <a:stretch xmlns:a="http://schemas.openxmlformats.org/drawingml/2006/main"/>
        </p:blipFill>
        <p:spPr>
          <a:xfrm xmlns:a="http://schemas.openxmlformats.org/drawingml/2006/main">
            <a:off x="3857625" y="146685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d7c5e9cde483f"/>
          <a:stretch xmlns:a="http://schemas.openxmlformats.org/drawingml/2006/main"/>
        </p:blipFill>
        <p:spPr>
          <a:xfrm xmlns:a="http://schemas.openxmlformats.org/drawingml/2006/main">
            <a:off x="5810250" y="1390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ff389585f4b1e"/>
          <a:stretch xmlns:a="http://schemas.openxmlformats.org/drawingml/2006/main"/>
        </p:blipFill>
        <p:spPr>
          <a:xfrm xmlns:a="http://schemas.openxmlformats.org/drawingml/2006/main">
            <a:off x="7429500" y="1352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8E6A6F-E5DD-400E-B32B-5033811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58C461-0509-4A67-8126-6D9B60C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09950"/>
            <a:ext cx="971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MOCHILA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F4DE0-5C81-4053-B33B-7F303C9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23685F-4E59-444C-A057-3F58E635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PICO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0EF1E4-0BFC-46F8-A0CE-56CBC463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663160-48FF-4BD5-9CE7-0F53CBF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099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ALA DELTA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F356BD-8868-4D0B-B14C-7A68D65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52800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BBC4CB-037C-4A62-B00F-9C26C0FE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09950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ENVOLTURA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993BBB-2515-422C-87AC-EA8DF591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1465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95F501-6949-4FF2-94BC-652F2852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08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EMOTICONO</a:t>
            </a:r>
          </a:p>
        </p:txBody>
      </p:sp>
    </p:spTree>
    <p:extLst>
      <p:ext uri="{BB962C8B-B14F-4D97-AF65-F5344CB8AC3E}">
        <p14:creationId xmlns:p14="http://schemas.microsoft.com/office/powerpoint/2010/main" val="1747916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4CAD1C-72E3-44FE-BB75-F56C5F8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A4AA1-8664-48E0-B944-E264CA0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E1022-D7F0-4158-98D6-C3F2364D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0E836-29A0-4D1F-B0C5-4489EBF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00:30–00:39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E95F1-FF5A-4422-95A9-0F91A69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 las dos skins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5C0F0-808E-40D3-9DD1-91B4553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DAAE-43F9-4940-A2CB-AB1BC471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CD2B1-55F2-4732-99D9-66D2EA5F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skin principal ocupa el centro. Las miniaturas muestran la existencia de variantes sin inventar nombres.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E26FA-BBE7-4C4B-B397-6A77143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26A31-088E-4B76-926E-53CC07A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00:30 entra Weezy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00:32 recorren variantes 01–04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00:35 cambia a Lil Wayne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sale todo el bloque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C2A0B-29A0-4272-B177-5E0E5AF5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07912-A6A2-472C-B3F0-5E0FFED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Carrusel de miniaturas con desplazamiento corto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Zoom de 108% en una variante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Cross-dissolve al bloque Festival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A6F5A-B0C9-4E69-B7D2-9601733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37F76-6E0B-4F9A-96D7-97903DC7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8D66-4258-461B-B65F-C95E7939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Usar nombres genéricos de variante en pantalla evita afirmar una correspondencia que la API no describe textualmente.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0E82B-FF25-4EAE-8DBB-0B730DC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17156-1FB8-43E6-A125-EEEF55A4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44626-2188-48FC-B176-987ECCC3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D1CE3-9E74-474B-97C7-8424175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skin Weezy tiene variantes de sombrero, gafas, camiseta sin mangas y reactividad. La segunda también tiene variantes de gafas y reactividad.”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4BE14-FFE1-4235-99F8-A41D3604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13CAB-DFEB-4C66-88AF-D99CC758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162FF-5463-40DD-97F6-A1205E8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47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4 miniaturas de variantes de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2 miniaturas de variantes de Lil Wayne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Rótulos: “VARIANTE 01” a “VARIANTE 04”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F860E-44CC-435F-93C7-DE642FD4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0C9BC-AF63-4B7B-9E1F-951F8F8E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05 · 00:30–00:39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5596AF-8E74-442E-929B-341DF57D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4BBA9-C6E1-4B71-AFCA-50D9B675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29FE5-F58E-459E-86CF-48D93CBC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56351-DFEA-42E4-9BBF-0D81D13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c2a9fc94d4c67"/>
          <a:stretch xmlns:a="http://schemas.openxmlformats.org/drawingml/2006/main"/>
        </p:blipFill>
        <p:spPr>
          <a:xfrm xmlns:a="http://schemas.openxmlformats.org/drawingml/2006/main">
            <a:off x="723900" y="1023938"/>
            <a:ext cx="2524125" cy="2524125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a285612aa4613"/>
          <a:stretch xmlns:a="http://schemas.openxmlformats.org/drawingml/2006/main"/>
        </p:blipFill>
        <p:spPr>
          <a:xfrm xmlns:a="http://schemas.openxmlformats.org/drawingml/2006/main">
            <a:off x="33813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8AA94-8A22-4F52-9CC6-DF63546C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39ACC0-708D-4427-A49E-4756380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fe85ba94f46e5"/>
          <a:stretch xmlns:a="http://schemas.openxmlformats.org/drawingml/2006/main"/>
        </p:blipFill>
        <p:spPr>
          <a:xfrm xmlns:a="http://schemas.openxmlformats.org/drawingml/2006/main">
            <a:off x="43910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7F272-A5A4-4F08-B6A8-E22F0B0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DC9EBF-C04B-4BFF-9D3B-F361C01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f43e1bcb84b77"/>
          <a:stretch xmlns:a="http://schemas.openxmlformats.org/drawingml/2006/main"/>
        </p:blipFill>
        <p:spPr>
          <a:xfrm xmlns:a="http://schemas.openxmlformats.org/drawingml/2006/main">
            <a:off x="540067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F75E0-8143-4FFE-8F39-1C3018A2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689545-2EF1-4C0F-A100-FBD48A9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a1370f7824351"/>
          <a:stretch xmlns:a="http://schemas.openxmlformats.org/drawingml/2006/main"/>
        </p:blipFill>
        <p:spPr>
          <a:xfrm xmlns:a="http://schemas.openxmlformats.org/drawingml/2006/main">
            <a:off x="6410325" y="9715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CAA862-976D-4D65-BF30-774BB44E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A6B399-E3DD-463B-9411-4E9A20B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131810-9D48-4170-A407-90FF888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LIL WAYNE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bc0c55fe94f71"/>
          <a:stretch xmlns:a="http://schemas.openxmlformats.org/drawingml/2006/main"/>
        </p:blipFill>
        <p:spPr>
          <a:xfrm xmlns:a="http://schemas.openxmlformats.org/drawingml/2006/main">
            <a:off x="5619750" y="2352675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5544d8ea048b8"/>
          <a:stretch xmlns:a="http://schemas.openxmlformats.org/drawingml/2006/main"/>
        </p:blipFill>
        <p:spPr>
          <a:xfrm xmlns:a="http://schemas.openxmlformats.org/drawingml/2006/main">
            <a:off x="7239000" y="235267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764BB1-93BC-4ED6-AFFE-C6C3744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2381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DA3A1B-20EE-4461-94FC-BFC289A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9433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VARIANTES DEL REGISTRO</a:t>
            </a:r>
          </a:p>
        </p:txBody>
      </p:sp>
    </p:spTree>
    <p:extLst>
      <p:ext uri="{BB962C8B-B14F-4D97-AF65-F5344CB8AC3E}">
        <p14:creationId xmlns:p14="http://schemas.microsoft.com/office/powerpoint/2010/main" val="61903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E10D4C-B324-4900-AD99-CF1BBF4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FDB1D-6F15-4E77-B38C-8F7C2EB2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D1759-838C-457A-856F-4211673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E826E-6BD2-4D40-9CED-CC557D0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00:39–00:50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879BE-CFDC-46F6-9356-221FC49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Bloque Festival: canciones e instrumento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11D7D-338D-4A90-9AEF-8487A1C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64F9A-2379-4FC9-8F13-C249F93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28E97-8F27-4C03-BB39-033B4104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Las carátulas entran como cards de catálogo. La guitarra se convierte en el ancla visual del cierre del bloque.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36A46-EE31-46F9-93D9-35C4967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B5FFD-3083-44A1-90CF-BF18FB5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00:39 primera carátula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00:42 segunda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00:45 tercera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00:47 guitarra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corte a torneo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83618-A1C4-431D-91B4-32B7824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3AB84-750C-4D84-8537-08AEA3F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Cards con stagger de 180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Pan suave sobre las carátulas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guitarra entra desde abajo con rebote corto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B0B68-9B24-4091-9D8E-9624ECDB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1F834-8A2F-4CF9-B259-B555287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63F01-FCE0-4F4A-9A41-436DF3B8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API confirma recursos catalogados. No usar el plano para afirmar que ya están a la venta.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8518F-13FB-42CA-BF32-C2D0FBDC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77425-57AC-4837-B761-71814B70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29986-5A1D-4160-95C4-6B4BDF9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6D222-6640-4504-B5A9-2492888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paquete también trae tres canciones de Festival: Lollipop, A Milli y 6 Foot 7 Foot. Además aparece Tha Guitar.”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9CEB2-7DCB-4FB5-8945-EFE61AE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2955C-1776-48C6-A4FD-41DA716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35FC2-523C-41C0-A3DB-70D45A5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03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sid-placeholder-870-albumart.jpg · Lollipop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sid-placeholder-871-albumart.jpg · A Milli (2023 Remix)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sid-placeholder-872-albumart.jpg · 6 Foot 7 Foot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pickaxe-noiseclue-guitar-images.featured.png · Tha Guitar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4C3D8-8BD8-4A25-A091-E2093177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53522-94BE-498F-9232-06AC054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06 · 00:39–00:50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AADEE-DEC5-469E-B9D1-3CBD1C64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9F7EE-91E7-490F-B581-7803C332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4090C"/>
              </a:gs>
              <a:gs pos="60000">
                <a:srgbClr val="371317"/>
              </a:gs>
              <a:gs pos="100000">
                <a:srgbClr val="0A0B10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005FE-2EC4-4FFE-BBE1-3C87158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FESTIVAL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F7BAF-3CA3-48C6-822A-9E7E77B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620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B14A"/>
                </a:solidFill>
                <a:latin typeface="Arial"/>
                <a:ea typeface="Arial"/>
                <a:cs typeface="Arial"/>
              </a:rPr>
              <a:t>3 tracks + 1 instrumento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795cb768b4d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6f97ed6d54c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562100"/>
            <a:ext cx="1504950" cy="15049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751682f514c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1562100"/>
            <a:ext cx="1504950" cy="15049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3985C-922A-4FFD-8322-07DA8097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DED99-5135-4D56-A4D2-7ED7E7EA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28975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LOLLIPOP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E1CD0C-858E-45EE-9612-0C59B59C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7F22B1-60FD-4C46-B7EF-7AF9182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 MILLI · REMIX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9868D-E03E-4D1B-A334-AB55D64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7182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E0EC56-76C5-4F39-8D2A-8F4C52FE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28975"/>
            <a:ext cx="1209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6 FOOT 7 FOOT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9d6a9950e4325"/>
          <a:stretch xmlns:a="http://schemas.openxmlformats.org/drawingml/2006/main"/>
        </p:blipFill>
        <p:spPr>
          <a:xfrm xmlns:a="http://schemas.openxmlformats.org/drawingml/2006/main">
            <a:off x="6267450" y="1376363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04595D-F30F-4988-BEF0-77F590C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62400"/>
            <a:ext cx="2714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060A">
              <a:alpha val="8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55ACFE-C493-493D-AE68-56F8C68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543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THA GUITAR · INSTRUMENTO</a:t>
            </a:r>
          </a:p>
        </p:txBody>
      </p:sp>
    </p:spTree>
    <p:extLst>
      <p:ext uri="{BB962C8B-B14F-4D97-AF65-F5344CB8AC3E}">
        <p14:creationId xmlns:p14="http://schemas.microsoft.com/office/powerpoint/2010/main" val="258226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E33C5B-FCD8-4498-BC75-AF7E0CAB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FED57-03C2-407D-A73E-2E431240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C0B-182B-45CF-923C-B83856E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90451-0201-497A-A808-3B82EE3B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00:50–00:57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7285E-358B-4E4E-8D45-FB026D3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Ficha de la copa para NAC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23179-74C7-402F-BFE3-9936021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6231E-C066-4EAE-8FF7-7E94D7D7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A3BF8-F9ED-4E41-BCB1-CBE57066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Arte oficial como fondo. Tarjeta editable con región, fecha, horario, modos y límite de partidas.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6FDD2-5497-4578-96D6-03FE3EC4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8BE25-72CE-45E6-A912-FCA9BEEA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entra tarjeta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00:52 se revela horario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00:54 modos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corte a puntuación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E52B8-49E4-4CB9-85C0-82563FE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CADFF-035C-4644-AE42-104AA969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Tarjeta sube 16 px y se asienta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 aparecen por bloques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con playhead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9C4E6-5E19-4ED8-9336-71FFC2B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6D704-465B-41A0-AFEE-0453BA58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343E7-20C2-4FFE-8188-B714062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El teaser original se conserva como MP4 en la carpeta de assets. Aquí se muestra su miniatura para ubicarlo en el montaje.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A68B3-4F2A-42E4-961A-DF70949D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EF1B5-0CD7-4D7E-9702-09BC740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C50F0-2EA9-467B-AA60-C8771F4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E81B8-91F8-4CCA-A864-E5184486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ficha del evento indica hasta 11 partidas. Es para NAC, el sábado 12 de septiembre, de 5:00 a 8:00, en Solo Battle Royale y Solo Zero Build.”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D6CC5E-2570-4B82-BC92-5A2D32C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83E7E-13FF-4B2B-BE0E-A5D27D7D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5ADBA-7A26-4F7C-A767-E122BC0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official-teaser-frame-2s.jpg · marcador de clip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 ·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31BF6-DEF0-45A9-AEF1-5EB0787E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387DE-61A0-4B96-98D5-A698B8A2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07 · 00:50–00:57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C78F3-45FF-44AB-91AF-3F277730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6e094dc5945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0D301-3F5A-4A44-A361-C5750FA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AB990-E5CD-48BC-8704-CA9B593E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44767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0B3F4-F9B7-4FC5-9393-9342FDD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3762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WEEZY ICON CUP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16F34-C2D3-4C19-BFC6-581C4BE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53AE1-BED7-44BA-991C-5DBEF7B6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66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EF84F-A5EA-47FF-BD88-E424F50A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0B1788-FC61-4022-84C6-E4A02A6C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571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5:00–8:00 PM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SOLO BR · SOLO ZERO BUILD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17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HASTA 11 PARTIDAS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505DD-6D76-4FD0-AB00-7CE758E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2571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8090D">
              <a:alpha val="84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22b50d33e4849"/>
          <a:srcRect xmlns:a="http://schemas.openxmlformats.org/drawingml/2006/main" l="13734" t="0" r="137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638550"/>
            <a:ext cx="933450" cy="723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547AF-223E-4178-949C-DE778851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CLIP OFICIAL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9.8 s aprox.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E614F2-8946-4EA9-B267-1354AF26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0F5A13-030C-47F5-91D3-C2305188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▶ REFERENCIA MP4</a:t>
            </a:r>
          </a:p>
        </p:txBody>
      </p:sp>
    </p:spTree>
    <p:extLst>
      <p:ext uri="{BB962C8B-B14F-4D97-AF65-F5344CB8AC3E}">
        <p14:creationId xmlns:p14="http://schemas.microsoft.com/office/powerpoint/2010/main" val="706932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1C25FD-4714-4673-9136-5C61F6C3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148F7-EC4E-4B9B-97B1-DE10DC7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14AA0-1B40-46F0-83E5-4D6C5BD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94986-D514-4E37-B86F-D1648D6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00:57–01:05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171C6-F802-477D-BE2E-156CC50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Puntuación y desempates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DCFF0-6D8F-4901-9153-FB426156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8CC2A-6890-41A3-9378-DB0CCFC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A3063-DF6F-41D3-83F1-B6C3447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Tabla de puntuación como texto editable, apoyada por el arte oficial en baja opacidad.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BC9D7-A733-43DE-AD71-64DAA92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EE4F7-F5D8-4DCA-AC6E-A6776A2E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00:57 aparece Victoria +7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00:59 suma colocaciones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01:02 entra Elim +2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pasa a premios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C1D0C-4CBB-42E5-85C0-50CAEF0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9AF21-6648-4487-9123-3EFEF6A0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Count-up de números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Flash naranja en “+2” de eliminación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La tabla entra por filas, no toda de golpe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35B47-6B10-4B26-9098-1B834559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9D19C-82FE-4072-8EAB-1E43A362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6C09B-9CC0-43D8-A28A-518E40D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La tabla refleja el feed público consultado. El reglamento específico puede actualizarse antes del torneo.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32BE1-AD77-4923-980B-09B35B5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CE715-EE20-4FA1-A343-1DF4DC47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8629B-6102-40B3-886A-B9719285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47F2A-50DD-49BE-95CC-657223D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“Victoria Royale: 7 puntos. Segundo: 4. Tercero: 2. Del cuarto al 50: 1. Cada eliminación suma 2.”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8C6C6-E29D-465B-A107-A1A9BD06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6FC76-8C33-493D-A757-0D38E51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D7578-EFC0-4E3A-AEC8-677FD95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· fondo oscuro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Tabla editable de puntos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 destacado: “MÁX. 11 PARTIDAS”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5CB20-42BC-4E27-AE67-8ADC824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BAAEF-7F09-4F0B-930C-E9F9C54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08 · 00:57–01:05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86AD7-C18C-434D-9BD7-708A96E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6a49fc076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89754-B7D1-4D33-9DBD-B45D4B76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6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CB523-6F98-4D7B-80BF-59D6AF3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PUNTUACIÓN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C2604-095E-4F4F-AED2-00550137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A0EE2-1466-4C65-B372-87D0DE0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4DA70-21AE-4482-944B-13AE5E1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VICTORIA ROYALE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CF857-F21B-41E9-89F7-A3D82A4E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33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3B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3B22"/>
                </a:solidFill>
                <a:latin typeface="Arial"/>
                <a:ea typeface="Arial"/>
                <a:cs typeface="Arial"/>
              </a:rPr>
              <a:t>+7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67E33-9BA9-4546-876F-007310D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A6EC3-C0E0-45F2-ABF1-BFFACAC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A81DE-886F-46BD-801D-2211CB8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2.º LUGAR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0E00B2-1EC3-4AEC-A1C8-C8C6B3CF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+4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D0C265-1934-411C-B4BD-EA34300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7E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9C3AB-6FF9-4149-A89F-490C8E4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BF751C-416C-4EE7-9A0D-B295060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3.º LUGAR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CB47C3-D8C3-47E0-ACB7-1775CE3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02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7EA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EA7F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F8DA8A-6526-4E49-A46D-05EA3D4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E6D797-B7B8-49FD-A0A6-9955FC04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0E809A-C800-4D49-8DB4-AED7C844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4.º–50.º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1F096C-0037-456F-8AA7-E4002E7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33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6F9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F91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43FF57-213E-435F-87E4-53BA7BC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31A">
              <a:alpha val="92000"/>
            </a:srgbClr>
          </a:solidFill>
          <a:ln xmlns:a="http://schemas.openxmlformats.org/drawingml/2006/main" w="9525">
            <a:solidFill>
              <a:srgbClr val="B5F06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9233DC-D575-4925-B052-F9D078C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F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8EF177-782F-4002-A7EA-F2459C7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917CD2-3837-4D52-B854-72D1E1E4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67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5F0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F06F"/>
                </a:solidFill>
                <a:latin typeface="Arial"/>
                <a:ea typeface="Arial"/>
                <a:cs typeface="Arial"/>
              </a:rPr>
              <a:t>+2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6B20A2-341E-48AA-8263-7DC0447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7241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5E1CB4-2B39-4B3B-AAD4-BD4E539F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MÁXIMO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23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11 PARTIDAS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C71993-575C-4DD6-9E0D-EBCCD3F9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8BBC8"/>
                </a:solidFill>
                <a:latin typeface="Arial"/>
                <a:ea typeface="Arial"/>
                <a:cs typeface="Arial"/>
              </a:rPr>
              <a:t>Desempate: victorias · promedio de eliminaciones · colocación · tiempo con vida</a:t>
            </a:r>
          </a:p>
        </p:txBody>
      </p:sp>
    </p:spTree>
    <p:extLst>
      <p:ext uri="{BB962C8B-B14F-4D97-AF65-F5344CB8AC3E}">
        <p14:creationId xmlns:p14="http://schemas.microsoft.com/office/powerpoint/2010/main" val="17933259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22C2BB-995B-4F03-82AF-7817DA72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AFF4F-EB2B-41CE-8F81-094B2F4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E69F0-907A-4B7B-8064-AD94B212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85408-4BEC-451B-BE67-4841CE47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01:05–01:12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EE12F-A932-4346-BCF2-98B803C2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Premios identificados en el feed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45A8-4095-4BE3-82DD-C856BED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B74E1-49F9-4654-8EB3-670D8BB3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AC371-4047-4C2D-8B2C-B54367D5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68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Recompensa de Top 700 a la izquierda. Premio por puntos a la derecha. Los nombres permanecen separados.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5CDBF-A023-403A-A355-26ED2912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C8291-36AA-47E0-963B-1D67CAA2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01:05 aparece Top 700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01:08 aparece YM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01:10 disclaimer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transición al cierre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1F874-7813-43AE-992B-87A5E966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02BFB-7719-4CB5-B5D3-97BE111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Reveal con máscara vertical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Pequeño scale-up en Weezy Board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emoticono entra con bounce de 2 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EF9F1-EC0D-43A1-9927-C5D4750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9FAC9-FC0D-4CED-A450-B1B67ACC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745E1-AD28-4184-B798-2957708F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No mostrar las dos skins como premio. El texto conserva la distinción entre el lote Weezy y el emoticono YM.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B761E-5B91-485E-A129-E9CEA255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DD946-4777-4F7A-A163-EA6F2906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54467-7DD3-41AB-AD18-9523AF8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2601E-C8B5-4950-A111-1167CF70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“El Top 700 recibe acceso a Weezy y Weezy Board. Alcanzar 8 puntos entrega el emoticono YM.”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E4BF4-93E7-465A-AF43-2F60025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7E10D-6922-4B00-8936-04816F6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D2B50-568F-4EB1-AE94-0253C38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09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character-noisecluegust-images.icon.png · detalle Weezy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backpack-noisecluegust-images.featured.png · Weezy Board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emoticon-noiseclue-images.smallicon.png · YM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Textos: “TOP 700” y “8 PUNTOS”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D88D4-4848-49BB-91E9-7DD8421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0FB9E-5884-423C-B49F-BB6C9A05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09 · 01:05–01:12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CA1DB-75B4-4DFB-BEC1-5BEEE259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6DE29-DEBC-4809-BCA9-8B6740B5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A0D"/>
              </a:gs>
              <a:gs pos="55000">
                <a:srgbClr val="3A0D12"/>
              </a:gs>
              <a:gs pos="100000">
                <a:srgbClr val="0A0B10"/>
              </a:gs>
            </a:gsLst>
            <a:lin ang="7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FB279-1971-4827-9135-61724330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36835-FD45-4ABF-80ED-18C5CA6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906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62774-D9A6-4F54-976C-9CAE20F9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4000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B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5DA07-5D00-404B-90D7-52C251C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3B22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379B2F-9C98-4F98-B1AF-41D59E1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1047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700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dd63d59ae492a"/>
          <a:stretch xmlns:a="http://schemas.openxmlformats.org/drawingml/2006/main"/>
        </p:blipFill>
        <p:spPr>
          <a:xfrm xmlns:a="http://schemas.openxmlformats.org/drawingml/2006/main">
            <a:off x="609600" y="20002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9000c52d4dba"/>
          <a:stretch xmlns:a="http://schemas.openxmlformats.org/drawingml/2006/main"/>
        </p:blipFill>
        <p:spPr>
          <a:xfrm xmlns:a="http://schemas.openxmlformats.org/drawingml/2006/main">
            <a:off x="2333625" y="1857375"/>
            <a:ext cx="1476375" cy="147637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359CC0-CEFC-4BE9-85D6-4FCE3D5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WEEZY + WEEZY 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36DB8-74A1-4B6B-92CA-3697D95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38250"/>
            <a:ext cx="3619500" cy="2905125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08090D">
              <a:alpha val="78000"/>
            </a:srgbClr>
          </a:solidFill>
          <a:ln xmlns:a="http://schemas.openxmlformats.org/drawingml/2006/main" w="9525">
            <a:solidFill>
              <a:srgbClr val="FF6F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1880D-CACA-4E74-8675-9AB665FF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8590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91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276389-E299-4220-AE95-477AE598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430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PUNTOS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139d6d0014f3e"/>
          <a:stretch xmlns:a="http://schemas.openxmlformats.org/drawingml/2006/main"/>
        </p:blipFill>
        <p:spPr>
          <a:xfrm xmlns:a="http://schemas.openxmlformats.org/drawingml/2006/main">
            <a:off x="5924550" y="1981200"/>
            <a:ext cx="1790700" cy="17907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29214-0D49-46F4-84D0-E04171D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90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YM · EMOTICONO</a:t>
            </a:r>
          </a:p>
        </p:txBody>
      </p:sp>
    </p:spTree>
    <p:extLst>
      <p:ext uri="{BB962C8B-B14F-4D97-AF65-F5344CB8AC3E}">
        <p14:creationId xmlns:p14="http://schemas.microsoft.com/office/powerpoint/2010/main" val="1682029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E695B-3F41-4072-812D-DEBD24B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289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54506-1E1C-4800-AF33-2C79BFD0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65070-6013-4C36-A8E5-D6F0D74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ESCENA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94BD9-8BBA-4E97-A467-68E2C6AA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01:12–01:24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8AD08-7F6D-4D8C-A143-C12BAECC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8667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Cierre responsable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BA3B7-3E86-434F-BA6E-072FD5C6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90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E458C-BB78-4700-AE7B-1C652C7E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90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CAPA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25FD9-41A5-47D5-ABF1-2515523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002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Miniatura del teaser o último frame del clip. Tarjeta final con datos confirmados y caveat editorial.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3C9CC-26C5-41F2-A733-430A36B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ENTRA / SALE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40626-5F81-402C-8350-4272BC39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01:12 congela último frame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01:14 entra tarjeta final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01:20 baja música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01:24 fundido a negro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A7115-F7D5-45BF-ACE5-0C9DFA53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719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MOVIMIENTO / EFECTO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6BA18-5AA4-4506-B9ED-6D1B86E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81475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5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Freeze de 8 frames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Card fade-up de 240 ms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Ken Burns mínimo sobre la miniatura</a:t>
            </a:r>
          </a:p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Fade-out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BE501-92E6-4D24-AB2D-DE3C55B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86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65990-C940-41F0-8945-55DBEAD9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NOTA DE EDICIÓN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9D62F-4245-4D04-91B4-6A7850E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95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Mantener la frase de verificación. El reglamento específico y los premios pueden cambiar antes de comenzar.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6EB21-3BF0-4844-99FE-CA984AF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9144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D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0A47A-17D6-4402-9F2E-EF56648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1AC22-FF4C-4C35-BFC3-4C560D3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3877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GUION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D132F-A295-4AC2-8150-B79CF92E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95950"/>
            <a:ext cx="519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1275" i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275" i="1">
                <a:solidFill>
                  <a:srgbClr val="FFF4E8"/>
                </a:solidFill>
                <a:latin typeface="Arial"/>
                <a:ea typeface="Arial"/>
                <a:cs typeface="Arial"/>
              </a:rPr>
              <a:t>“La copa está listada oficialmente. Conviene comprobar el reglamento específico y cómo se reflejarán las recompensas en cada región.”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5C4E80-84E7-4BC3-AF69-D9BBEF81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4673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46EE4-73AE-4ED2-BE35-F320C19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2428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ASSETS EN EL PLANO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3C09D-91A1-4FBD-B4FC-2916C65D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959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1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official-event-hero-nac.jpg o último frame de official-teaser.mp4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Tarjeta editable: “NAC · 12 SEP · 5–8 PM”</a:t>
            </a:r>
          </a:p>
          <a:p xmlns:a="http://schemas.openxmlformats.org/drawingml/2006/main">
            <a:pPr>
              <a:lnSpc>
                <a:spcPct val="94000"/>
              </a:lnSpc>
              <a:buNone/>
              <a:defRPr sz="1200">
                <a:solidFill>
                  <a:srgbClr val="B8BBC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8BBC8"/>
                </a:solidFill>
                <a:latin typeface="Arial"/>
                <a:ea typeface="Arial"/>
                <a:cs typeface="Arial"/>
              </a:rPr>
              <a:t>Caveat: “Verifica reglamento y premios en el cliente”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46626-C8E5-41AF-964D-CF5BD65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7145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0D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B7F3E-FE54-4083-B145-4EA1B3DD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VISTA 10 · 01:12–01:24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C398EB-6B3A-49D1-A803-86A1248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"/>
            <a:ext cx="1857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ANOTACIONES NO SE EXPORTAN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685ca745349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D5D80-A1C3-47A2-9860-B180908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D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B97127-6F60-49ED-A735-867127A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8096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090D">
              <a:alpha val="86000"/>
            </a:srgbClr>
          </a:solidFill>
          <a:ln xmlns:a="http://schemas.openxmlformats.org/drawingml/2006/main" w="9525">
            <a:solidFill>
              <a:srgbClr val="F43B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128121-8661-471C-90BC-B92A9490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5257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5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LISTADA OFICIALMENTE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78AA9-C8FA-40DB-BF16-39A5ED8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14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B14A"/>
                </a:solidFill>
                <a:latin typeface="Arial"/>
                <a:ea typeface="Arial"/>
                <a:cs typeface="Arial"/>
              </a:rPr>
              <a:t>NAC · 12 SEP · 5–8 PM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C4C76-B98E-42FA-A9CD-E45771D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194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05E21-A88D-4E7B-8D65-1C51BC6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4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4E8"/>
                </a:solidFill>
                <a:latin typeface="Arial"/>
                <a:ea typeface="Arial"/>
                <a:cs typeface="Arial"/>
              </a:rPr>
              <a:t>VERIFICA REGLAMENTO Y PREMIOS EN EL CLIENTE</a:t>
            </a:r>
          </a:p>
        </p:txBody>
      </p:sp>
    </p:spTree>
    <p:extLst>
      <p:ext uri="{BB962C8B-B14F-4D97-AF65-F5344CB8AC3E}">
        <p14:creationId xmlns:p14="http://schemas.microsoft.com/office/powerpoint/2010/main" val="1944659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2026-09-10T17:23:43.5340000Z</dcterms:created>
  <dcterms:modified xsi:type="dcterms:W3CDTF">2026-09-10T17:23:43.5340000Z</dcterms:modified>
</coreProperties>
</file>