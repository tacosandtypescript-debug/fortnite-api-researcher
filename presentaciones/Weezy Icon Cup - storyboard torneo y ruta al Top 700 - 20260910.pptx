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66d929e81c485b" /><Relationship Type="http://schemas.openxmlformats.org/officeDocument/2006/relationships/extended-properties" Target="/docProps/app.xml" Id="Rd79ec27729b54314" /><Relationship Type="http://schemas.openxmlformats.org/officeDocument/2006/relationships/officeDocument" Target="/ppt/presentation.xml" Id="R761b8ba79fdf48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7bbfc569c346ca"/>
  </p:sldMasterIdLst>
  <p:notesMasterIdLst>
    <p:notesMasterId xmlns:r="http://schemas.openxmlformats.org/officeDocument/2006/relationships" r:id="R8a9f0c9f9e224fcc"/>
  </p:notesMasterIdLst>
  <p:sldIdLst>
    <p:sldId xmlns:r="http://schemas.openxmlformats.org/officeDocument/2006/relationships" id="256" r:id="R42a481fbb3234e8a"/>
    <p:sldId xmlns:r="http://schemas.openxmlformats.org/officeDocument/2006/relationships" id="257" r:id="Rb37ff1e0da6e4f6d"/>
    <p:sldId xmlns:r="http://schemas.openxmlformats.org/officeDocument/2006/relationships" id="258" r:id="R557cba18ebe44942"/>
    <p:sldId xmlns:r="http://schemas.openxmlformats.org/officeDocument/2006/relationships" id="259" r:id="Rd4e1f4e08ce540a6"/>
    <p:sldId xmlns:r="http://schemas.openxmlformats.org/officeDocument/2006/relationships" id="260" r:id="R8caa047f9b504334"/>
    <p:sldId xmlns:r="http://schemas.openxmlformats.org/officeDocument/2006/relationships" id="261" r:id="Rb227dd1bce924fe5"/>
    <p:sldId xmlns:r="http://schemas.openxmlformats.org/officeDocument/2006/relationships" id="262" r:id="R663487cae58b45fe"/>
    <p:sldId xmlns:r="http://schemas.openxmlformats.org/officeDocument/2006/relationships" id="263" r:id="Rc9cec034cbe94563"/>
    <p:sldId xmlns:r="http://schemas.openxmlformats.org/officeDocument/2006/relationships" id="264" r:id="Rd9977f6bdff34904"/>
    <p:sldId xmlns:r="http://schemas.openxmlformats.org/officeDocument/2006/relationships" id="265" r:id="R541c73eeff154351"/>
    <p:sldId xmlns:r="http://schemas.openxmlformats.org/officeDocument/2006/relationships" id="266" r:id="R6afab57b7fb941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f8930b92864d37" /><Relationship Type="http://schemas.openxmlformats.org/officeDocument/2006/relationships/slideMaster" Target="/ppt/slideMasters/slideMaster1.xml" Id="R2b7bbfc569c346ca" /><Relationship Type="http://schemas.openxmlformats.org/officeDocument/2006/relationships/notesMaster" Target="/ppt/notesMasters/notesMaster1.xml" Id="R8a9f0c9f9e224fcc" /><Relationship Type="http://schemas.openxmlformats.org/officeDocument/2006/relationships/presProps" Target="/ppt/presProps.xml" Id="R5a6c2cc931f74cb2" /><Relationship Type="http://schemas.openxmlformats.org/officeDocument/2006/relationships/tableStyles" Target="/ppt/tableStyles.xml" Id="R35831336f4624014" /><Relationship Type="http://schemas.openxmlformats.org/officeDocument/2006/relationships/slide" Target="/ppt/slides/slide1.xml" Id="R42a481fbb3234e8a" /><Relationship Type="http://schemas.openxmlformats.org/officeDocument/2006/relationships/slide" Target="/ppt/slides/slide2.xml" Id="Rb37ff1e0da6e4f6d" /><Relationship Type="http://schemas.openxmlformats.org/officeDocument/2006/relationships/slide" Target="/ppt/slides/slide3.xml" Id="R557cba18ebe44942" /><Relationship Type="http://schemas.openxmlformats.org/officeDocument/2006/relationships/slide" Target="/ppt/slides/slide4.xml" Id="Rd4e1f4e08ce540a6" /><Relationship Type="http://schemas.openxmlformats.org/officeDocument/2006/relationships/slide" Target="/ppt/slides/slide5.xml" Id="R8caa047f9b504334" /><Relationship Type="http://schemas.openxmlformats.org/officeDocument/2006/relationships/slide" Target="/ppt/slides/slide6.xml" Id="Rb227dd1bce924fe5" /><Relationship Type="http://schemas.openxmlformats.org/officeDocument/2006/relationships/slide" Target="/ppt/slides/slide7.xml" Id="R663487cae58b45fe" /><Relationship Type="http://schemas.openxmlformats.org/officeDocument/2006/relationships/slide" Target="/ppt/slides/slide8.xml" Id="Rc9cec034cbe94563" /><Relationship Type="http://schemas.openxmlformats.org/officeDocument/2006/relationships/slide" Target="/ppt/slides/slide9.xml" Id="Rd9977f6bdff34904" /><Relationship Type="http://schemas.openxmlformats.org/officeDocument/2006/relationships/slide" Target="/ppt/slides/slide10.xml" Id="R541c73eeff154351" /><Relationship Type="http://schemas.openxmlformats.org/officeDocument/2006/relationships/slide" Target="/ppt/slides/slide11.xml" Id="R6afab57b7fb941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7a19a063754b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c3e96985f1454c" /><Relationship Type="http://schemas.openxmlformats.org/officeDocument/2006/relationships/notesMaster" Target="/ppt/notesMasters/notesMaster1.xml" Id="Rc427bc2895c340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75512ddbb94ce3" /><Relationship Type="http://schemas.openxmlformats.org/officeDocument/2006/relationships/notesMaster" Target="/ppt/notesMasters/notesMaster1.xml" Id="R00eee3992da14e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8eabf9e05941a3" /><Relationship Type="http://schemas.openxmlformats.org/officeDocument/2006/relationships/notesMaster" Target="/ppt/notesMasters/notesMaster1.xml" Id="R6681fd7ec28644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47c8953b2748fe" /><Relationship Type="http://schemas.openxmlformats.org/officeDocument/2006/relationships/notesMaster" Target="/ppt/notesMasters/notesMaster1.xml" Id="R170ca1bff5e54c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71445294ce4bdc" /><Relationship Type="http://schemas.openxmlformats.org/officeDocument/2006/relationships/notesMaster" Target="/ppt/notesMasters/notesMaster1.xml" Id="Rfa12ac751d2543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dc0b670b2f4de6" /><Relationship Type="http://schemas.openxmlformats.org/officeDocument/2006/relationships/notesMaster" Target="/ppt/notesMasters/notesMaster1.xml" Id="R03b26944cde749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c394222b514f79" /><Relationship Type="http://schemas.openxmlformats.org/officeDocument/2006/relationships/notesMaster" Target="/ppt/notesMasters/notesMaster1.xml" Id="Recad4037d4694b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fbc619f9024474" /><Relationship Type="http://schemas.openxmlformats.org/officeDocument/2006/relationships/notesMaster" Target="/ppt/notesMasters/notesMaster1.xml" Id="R4532f37431d14a1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43eea5207a4d01" /><Relationship Type="http://schemas.openxmlformats.org/officeDocument/2006/relationships/notesMaster" Target="/ppt/notesMasters/notesMaster1.xml" Id="R19a8c0f2498444a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2c730651764b46" /><Relationship Type="http://schemas.openxmlformats.org/officeDocument/2006/relationships/notesMaster" Target="/ppt/notesMasters/notesMaster1.xml" Id="R67084df48d524c1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562be91e4e949f5" /><Relationship Type="http://schemas.openxmlformats.org/officeDocument/2006/relationships/notesMaster" Target="/ppt/notesMasters/notesMaster1.xml" Id="R6bedaa46132f44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Arte: official-event-hero-nac.jpg, fuente pública de Epic/CDN, validado a 1920×1080.</a:t>
            </a:r>
          </a:p>
          <a:p xmlns:a="http://schemas.openxmlformats.org/drawingml/2006/main">
            <a:r>
              <a:t>La separación Top 700 frente a 8 puntos sigue el guion vigente y el feed público consultado.</a:t>
            </a:r>
          </a:p>
          <a:p xmlns:a="http://schemas.openxmlformats.org/drawingml/2006/main">
            <a:r>
              <a:t>Guion: salidas/20260910T170634Z-guion-video-weezy-icon-cup.md.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Visual: official-event-hero-nac.jpg, arte oficial de Epic/CDN.</a:t>
            </a:r>
          </a:p>
          <a:p xmlns:a="http://schemas.openxmlformats.org/drawingml/2006/main">
            <a:r>
              <a:t>Dato de premio: feed público de Fortnite Tracker, consultado en la investigación vigente.</a:t>
            </a:r>
          </a:p>
          <a:p xmlns:a="http://schemas.openxmlformats.org/drawingml/2006/main">
            <a:r>
              <a:t>No presentar el Top 700 como una garantía de entrega fuera de las condiciones del evento.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de la ficha: https://www.fortnite.com/competitive/events/S42_WeezyIconCup?region=NAC&amp;round=S42_WeezyIconCup_NAC</a:t>
            </a:r>
          </a:p>
          <a:p xmlns:a="http://schemas.openxmlformats.org/drawingml/2006/main">
            <a:r>
              <a:t>Horario: https://www.fortnite.com/competitive/events/S42_WeezyIconCup/schedule?region=NAC</a:t>
            </a:r>
          </a:p>
          <a:p xmlns:a="http://schemas.openxmlformats.org/drawingml/2006/main">
            <a:r>
              <a:t>Clip original: official-teaser.mp4, 1920×1080, aproximadamente 9.8 s. El frame mostrado se extrajo a los 2 s para ubicarlo en la edición.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Ficha oficial: https://www.fortnite.com/competitive/events/S42_WeezyIconCup?region=NAC&amp;round=S42_WeezyIconCup_NAC</a:t>
            </a:r>
          </a:p>
          <a:p xmlns:a="http://schemas.openxmlformats.org/drawingml/2006/main">
            <a:r>
              <a:t>Los requisitos explícitos del snapshot son 13 años o la edad mínima local y AMF/MFA habilitada.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Datos de puntuación: https://fortnitetracker.com/events/epicgames_S42_WeezyIconCup_NAC y https://fortnitetracker.com/events/epicgames_S42_WeezyIconCup_ZB_NAC</a:t>
            </a:r>
          </a:p>
          <a:p xmlns:a="http://schemas.openxmlformats.org/drawingml/2006/main">
            <a:r>
              <a:t>La tabla debe mostrarse como datos actuales del feed público, no como un arte oficial de Fortnite-API.com.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Premios: feed público del evento, https://fortnitetracker.com/events/epicgames_S42_WeezyIconCup_NAC.</a:t>
            </a:r>
          </a:p>
          <a:p xmlns:a="http://schemas.openxmlformats.org/drawingml/2006/main">
            <a:r>
              <a:t>La página oficial describe el premio como acceso al lote Weezy. No decir que 8 puntos entregan las dos skins.</a:t>
            </a:r>
          </a:p>
          <a:p xmlns:a="http://schemas.openxmlformats.org/drawingml/2006/main">
            <a:r>
              <a:t>Assets de catálogo: Fortnite-API.com, set Lil Wayne.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Dato oficial utilizado: la ficha/feed muestra un máximo de 11 partidas.</a:t>
            </a:r>
          </a:p>
          <a:p xmlns:a="http://schemas.openxmlformats.org/drawingml/2006/main">
            <a:r>
              <a:t>La división 3 / 5 / 3 y las recomendaciones de consistencia son una propuesta de montaje y estrategia, no reglas publicadas.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Cálculos derivados de los valores del feed: Victoria +7, segundo +4, tercero +2 y eliminación +2.</a:t>
            </a:r>
          </a:p>
          <a:p xmlns:a="http://schemas.openxmlformats.org/drawingml/2006/main">
            <a:r>
              <a:t>8 puntos se muestran como umbral del emoticono YM según el feed público, no como requisito confirmado para el lote Weezy.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Desempates: feed público de Fortnite Tracker, leído en https://fortnitetracker.com/events/epicgames_S42_WeezyIconCup_NAC.</a:t>
            </a:r>
          </a:p>
          <a:p xmlns:a="http://schemas.openxmlformats.org/drawingml/2006/main">
            <a:r>
              <a:t>La recomendación editorial sobre consistencia es una interpretación táctica basada en esa jerarquía, no un reglamento adicional.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Assets de catálogo: Fortnite-API.com, set Lil Wayne.</a:t>
            </a:r>
          </a:p>
          <a:p xmlns:a="http://schemas.openxmlformats.org/drawingml/2006/main">
            <a:r>
              <a:t>Premios: feed público del evento, https://fortnitetracker.com/events/epicgames_S42_WeezyIconCup_NAC.</a:t>
            </a:r>
          </a:p>
          <a:p xmlns:a="http://schemas.openxmlformats.org/drawingml/2006/main">
            <a:r>
              <a:t>No afirmar que el ganador recibe las dos skins. La recompensa identificada es Weezy más Weezy Board.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oficial: https://www.fortnite.com/competitive/events/S42_WeezyIconCup?region=NAC&amp;round=S42_WeezyIconCup_NAC</a:t>
            </a:r>
          </a:p>
          <a:p xmlns:a="http://schemas.openxmlformats.org/drawingml/2006/main">
            <a:r>
              <a:t>Horario NAC: https://www.fortnite.com/competitive/events/S42_WeezyIconCup/schedule?region=NAC</a:t>
            </a:r>
          </a:p>
          <a:p xmlns:a="http://schemas.openxmlformats.org/drawingml/2006/main">
            <a:r>
              <a:t>El cierre sigue la nota editorial del guion: comprobar el reglamento específico y la actualización de premios en cada región.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d7011b008245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b6c64707954b72" /><Relationship Type="http://schemas.openxmlformats.org/officeDocument/2006/relationships/slideLayout" Target="/ppt/slideLayouts/slideLayout1.xml" Id="Rb5fdeaec04b341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fdeaec04b341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7d9265dd4426b" /><Relationship Type="http://schemas.openxmlformats.org/officeDocument/2006/relationships/image" Target="/ppt/media/image.jpeg" Id="R4e32c065f51a4e2c" /><Relationship Type="http://schemas.openxmlformats.org/officeDocument/2006/relationships/notesSlide" Target="/ppt/notesSlides/notesSlide1.xml" Id="R6209225ae4804a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f8eb1aa9a34d0f" /><Relationship Type="http://schemas.openxmlformats.org/officeDocument/2006/relationships/image" Target="/ppt/media/image2.jpeg" Id="Reed57341cb9f4a8a" /><Relationship Type="http://schemas.openxmlformats.org/officeDocument/2006/relationships/notesSlide" Target="/ppt/notesSlides/notesSlide2.xml" Id="R58f375d3efe444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d0fe66c49141f9" /><Relationship Type="http://schemas.openxmlformats.org/officeDocument/2006/relationships/image" Target="/ppt/media/image3.jpeg" Id="R0350410464c74b82" /><Relationship Type="http://schemas.openxmlformats.org/officeDocument/2006/relationships/image" Target="/ppt/media/image4.jpeg" Id="R82473cae71c44892" /><Relationship Type="http://schemas.openxmlformats.org/officeDocument/2006/relationships/notesSlide" Target="/ppt/notesSlides/notesSlide3.xml" Id="R345fcf7f03b84b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a1adb2049486d" /><Relationship Type="http://schemas.openxmlformats.org/officeDocument/2006/relationships/image" Target="/ppt/media/image5.jpeg" Id="R031eaa3dce5943d9" /><Relationship Type="http://schemas.openxmlformats.org/officeDocument/2006/relationships/image" Target="/ppt/media/image.png" Id="Rea948d816aa2421d" /><Relationship Type="http://schemas.openxmlformats.org/officeDocument/2006/relationships/notesSlide" Target="/ppt/notesSlides/notesSlide4.xml" Id="R294d89e77d0e4d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afff18eee4f7b" /><Relationship Type="http://schemas.openxmlformats.org/officeDocument/2006/relationships/image" Target="/ppt/media/image6.jpeg" Id="R9a91bb2584b3447f" /><Relationship Type="http://schemas.openxmlformats.org/officeDocument/2006/relationships/image" Target="/ppt/media/image2.png" Id="R20619defc92d4bec" /><Relationship Type="http://schemas.openxmlformats.org/officeDocument/2006/relationships/notesSlide" Target="/ppt/notesSlides/notesSlide5.xml" Id="Rfa85149c883542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bcf300be04f9a" /><Relationship Type="http://schemas.openxmlformats.org/officeDocument/2006/relationships/image" Target="/ppt/media/image3.png" Id="Rec42fbb2947647f2" /><Relationship Type="http://schemas.openxmlformats.org/officeDocument/2006/relationships/image" Target="/ppt/media/image4.png" Id="Rad066ae943944ce1" /><Relationship Type="http://schemas.openxmlformats.org/officeDocument/2006/relationships/image" Target="/ppt/media/image5.png" Id="R663a337632f7434b" /><Relationship Type="http://schemas.openxmlformats.org/officeDocument/2006/relationships/notesSlide" Target="/ppt/notesSlides/notesSlide6.xml" Id="Rdacfb270e8eb49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75309c65d4be7" /><Relationship Type="http://schemas.openxmlformats.org/officeDocument/2006/relationships/image" Target="/ppt/media/image6.png" Id="R1343dac822454520" /><Relationship Type="http://schemas.openxmlformats.org/officeDocument/2006/relationships/notesSlide" Target="/ppt/notesSlides/notesSlide7.xml" Id="Rf5a46e1d73e64c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033328e384d48" /><Relationship Type="http://schemas.openxmlformats.org/officeDocument/2006/relationships/image" Target="/ppt/media/image7.png" Id="Rd01270abb8764ed1" /><Relationship Type="http://schemas.openxmlformats.org/officeDocument/2006/relationships/notesSlide" Target="/ppt/notesSlides/notesSlide8.xml" Id="Rfa1ec18a250542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07e147a1d4b57" /><Relationship Type="http://schemas.openxmlformats.org/officeDocument/2006/relationships/image" Target="/ppt/media/image7.jpeg" Id="R18b5ea55c5d84cd6" /><Relationship Type="http://schemas.openxmlformats.org/officeDocument/2006/relationships/image" Target="/ppt/media/image8.png" Id="R16e71bfff4334379" /><Relationship Type="http://schemas.openxmlformats.org/officeDocument/2006/relationships/notesSlide" Target="/ppt/notesSlides/notesSlide9.xml" Id="R3436e99799ac4a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9c8f2dc3f4aec" /><Relationship Type="http://schemas.openxmlformats.org/officeDocument/2006/relationships/image" Target="/ppt/media/image9.png" Id="Rd2389a6037c040bb" /><Relationship Type="http://schemas.openxmlformats.org/officeDocument/2006/relationships/image" Target="/ppt/media/image10.png" Id="R5c0fa110083d43e4" /><Relationship Type="http://schemas.openxmlformats.org/officeDocument/2006/relationships/image" Target="/ppt/media/image11.png" Id="R06f5347772504aab" /><Relationship Type="http://schemas.openxmlformats.org/officeDocument/2006/relationships/notesSlide" Target="/ppt/notesSlides/notesSlide10.xml" Id="R8f9b8a5900864d3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b9bc297094914" /><Relationship Type="http://schemas.openxmlformats.org/officeDocument/2006/relationships/image" Target="/ppt/media/image8.jpeg" Id="R841e61b9b51c45eb" /><Relationship Type="http://schemas.openxmlformats.org/officeDocument/2006/relationships/notesSlide" Target="/ppt/notesSlides/notesSlide11.xml" Id="R75fe204a97b445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32c065f51a4e2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698446-B24D-411E-B617-99DFA4C6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569F24-7E2A-4988-9D88-F9FB36F1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D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444D1D-EE44-45F0-9A8E-904F4B06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762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9DE2A-66AF-4FB9-9AAF-1774BEAD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76300"/>
            <a:ext cx="428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WEEZY ICON CUP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817260-3583-4603-B83E-DEA670B1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09750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86000"/>
              </a:lnSpc>
              <a:buNone/>
              <a:defRPr sz="2625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RUTA COMPETITIVA</a:t>
            </a:r>
          </a:p>
          <a:p xmlns:a="http://schemas.openxmlformats.org/drawingml/2006/main">
            <a:pPr>
              <a:lnSpc>
                <a:spcPct val="86000"/>
              </a:lnSpc>
              <a:buNone/>
              <a:defRPr sz="2625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AL TOP 700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6ED046-7D49-4648-9592-980F685C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003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1575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FF4E8"/>
                </a:solidFill>
                <a:latin typeface="Arial"/>
                <a:ea typeface="Arial"/>
                <a:cs typeface="Arial"/>
              </a:rPr>
              <a:t>Storyboard de montaje para explicar cómo jugar la copa, sumar puntos y buscar el lote Weezy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3F3DB-3793-4030-A6F6-12DE4B30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0"/>
            <a:ext cx="2286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3B22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B9E30-B248-412C-8686-3B548A4E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52900"/>
            <a:ext cx="2095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OBJETIVO VISUAL · TORNEO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F8B1E1-6159-4967-BE7D-566972AA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19625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Top 700: Weezy + Weezy Board</a:t>
            </a:r>
          </a:p>
          <a:p xmlns:a="http://schemas.openxmlformats.org/drawingml/2006/main">
            <a:pPr>
              <a:lnSpc>
                <a:spcPct val="96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puntos: YM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174BD0-2667-45EE-AA9E-7FBDBD00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1912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B8BBC8"/>
                </a:solidFill>
                <a:latin typeface="Arial"/>
                <a:ea typeface="Arial"/>
                <a:cs typeface="Arial"/>
              </a:rPr>
              <a:t>Formato final 16:9 · 1920 × 1080 · 60–90 s</a:t>
            </a:r>
          </a:p>
        </p:txBody>
      </p:sp>
    </p:spTree>
    <p:extLst>
      <p:ext uri="{BB962C8B-B14F-4D97-AF65-F5344CB8AC3E}">
        <p14:creationId xmlns:p14="http://schemas.microsoft.com/office/powerpoint/2010/main" val="5866383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EEF786-42D3-474A-82E2-DAF2AF35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2895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783277-AC45-46E4-9EB6-05A322BE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AB2AAE-0553-42C1-9A8D-6D022988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ESCENA 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179BF-65D6-430D-8408-02E07FBE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5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00:00–00:06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90FDE5-6E4F-40A4-9A32-BDC53E32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8667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6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Hook: el objetivo es el Top 700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CA96A4-3155-435B-8263-F73EE658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90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732A8-3A4B-41DD-9AB1-3FAB8F59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90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CAPA PRINCIPAL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3EE67B-DEDF-4067-BA3F-1A0AC6E5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Arte oficial a pantalla completa. El rótulo de meta entra sobre el espacio rojo de la derecha.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904BB0-ACF8-4C61-83AA-BBA23F1F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ENTRA / SALE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74450A-0ED4-45F0-8C6B-1168CCAE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00:00 corte desde negro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00:00.3 aparece “TOP 700”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00:06 sale con golpe de beat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D308A0-11BF-46FD-8487-D3577C24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719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MOVIMIENTO / EFECTO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36C2C6-366C-47FA-A17E-6EBBDB7D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81475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Push-in 100% → 103%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Destello sobre el texto de meta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 seco al dato del evento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6520D1-EE70-4701-A2CC-73F0B4D2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86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1F74C2-565A-4091-801E-710F1057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768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NOTA DE EDICIÓN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4DA269-B2B2-4CF3-B94F-7B507ADE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959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La locución debe decir “según el feed público” para mantener la distinción entre dato del evento y promesa de recompensa.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D2265A-CB1B-45A0-8B77-F1A41C40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9144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D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5CC50F-08A6-4397-8BED-BFCA51D3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7A7DD8-75B9-488B-9FC8-2E7021C7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3877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GUION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71A0D5-F1E4-4482-BA3F-BCD6569A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95950"/>
            <a:ext cx="519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75" i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i="1">
                <a:solidFill>
                  <a:srgbClr val="FFF4E8"/>
                </a:solidFill>
                <a:latin typeface="Arial"/>
                <a:ea typeface="Arial"/>
                <a:cs typeface="Arial"/>
              </a:rPr>
              <a:t>“Si quieres buscar el lote de Weezy, la meta del torneo es terminar dentro del Top 700.”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5408BD-D1B9-4C5D-9F3A-6C8CC9DA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4673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933E00-5DE4-4D61-AF74-139977E3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38775"/>
            <a:ext cx="2428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ASSETS EN EL PLANO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77CEEE-4287-4D4D-A775-0E2B1C83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9595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official-event-hero-nac.jpg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Texto editable: “OBJETIVO: TOP 700”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Acento de Weezy Board en segundo plano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3D1C98-0CAA-47AD-B179-1B7FA377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90D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4F0736-9E83-4FD8-B995-2D4CB16B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VISTA 01 · 00:00–00:06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0FA1FF-21C4-4F8F-B4A2-AC2C4A54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"/>
            <a:ext cx="1857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ANOTACIONES NO SE EXPORTAN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d57341cb9f4a8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39A1CE-0E60-435C-8A78-0A66DB1B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D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A3DFBB-E47D-4B8A-974C-7D864572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81250"/>
            <a:ext cx="4000500" cy="1543050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08090D">
              <a:alpha val="80000"/>
            </a:srgbClr>
          </a:solidFill>
          <a:ln xmlns:a="http://schemas.openxmlformats.org/drawingml/2006/main" w="9525">
            <a:solidFill>
              <a:srgbClr val="FFB1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6273A7-FD85-48E6-96D8-CBADDE3D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6098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¿QUIERES A WEEZY?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8F4688-2F57-4A6F-97BB-BC1A3125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861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642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OBJETIVO: TOP 700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4E1DC7-78EE-430D-9821-FDA77A0E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17621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FFB1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5B0218-B295-43E3-9CAC-62AE63AD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05350"/>
            <a:ext cx="16097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META COMPETITIVA</a:t>
            </a:r>
          </a:p>
        </p:txBody>
      </p:sp>
    </p:spTree>
    <p:extLst>
      <p:ext uri="{BB962C8B-B14F-4D97-AF65-F5344CB8AC3E}">
        <p14:creationId xmlns:p14="http://schemas.microsoft.com/office/powerpoint/2010/main" val="17404079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7C3028-8741-4464-B635-556789DC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2895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D8D01-B5CC-473A-A91B-5EB746CE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93C6DB-1C24-4D25-B49E-D60BD0F4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ESCENA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E1C86C-4E86-4559-A4E7-1BA93264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5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00:06–00:14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9AEAED-FB3A-4190-8165-1EB4EF4D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8667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6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Cuándo y cómo se juega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78E07-A05E-496B-B9B8-7DE3C3CB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90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87341-400D-4BF6-B8B6-13C21657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90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CAPA PRINCIPAL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A13F22-9DA8-4044-97C5-B5956772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Tarjeta oficial editable sobre el hero. La miniatura del teaser fija el ritmo del anuncio.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B8E55-CE34-41DD-899F-2D2B471C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ENTRA / SALE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5206B6-D583-4E39-B781-B9D2D41A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00:06 entra tarjeta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00:08 región y fecha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00:10 modos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00:14 corte a requisitos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0E4D35-BD9D-483E-84C6-F8DAB152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719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MOVIMIENTO / EFECTO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3B775C-CD0D-4FEF-A16E-645B8611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81475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Card fade-up 240 ms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Datos aparecen por líneas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Teaser en picture-in-picture con playhead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CA7658-B448-4595-8325-6D3A2CFB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86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344936-8046-45F3-90E6-54FA1D1C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768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NOTA DE EDICIÓN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B2E13B-70AE-400A-A346-1F376D80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959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La hora mostrada es la de NAC. El video debe recomendar revisar la pestaña Competir si la cuenta usa otra región.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D3A4BC-864B-49FC-94A6-FBF7D007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9144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D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103DD4-CA33-4F11-A7D6-0F1C14D1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EEF7E2-7F6D-4A2F-BCDA-728F15C7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3877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GUION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8B34FE-E74F-4587-B214-3732ABF0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95950"/>
            <a:ext cx="519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75" i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i="1">
                <a:solidFill>
                  <a:srgbClr val="FFF4E8"/>
                </a:solidFill>
                <a:latin typeface="Arial"/>
                <a:ea typeface="Arial"/>
                <a:cs typeface="Arial"/>
              </a:rPr>
              <a:t>“La copa es el sábado 12 de septiembre, de 5:00 a 8:00 de la tarde en NAC, en Solo Battle Royale y Solo Zero Build.”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4AF453-4BBE-46F7-8576-F01B8DA9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4673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4C3FB4-506D-498E-87ED-BE144196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38775"/>
            <a:ext cx="2428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ASSETS EN EL PLANO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9FCD0C-0DD0-42C2-80E7-2E44EB38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9595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official-event-hero-nac.jpg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official-teaser-frame-2s.jpg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Texto: “NAC · 12 SEP · 5–8 PM · SOLO BR / ZB”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04E713-D027-4285-B49D-834C25B9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90D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54F427-B874-4919-BAFF-9026E9E8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VISTA 02 · 00:06–00:14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4849D5-6C05-4B4D-8770-FFA34FAB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"/>
            <a:ext cx="1857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ANOTACIONES NO SE EXPORTAN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50410464c74b8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270A75-CE94-4968-9F0B-F51FC829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D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EA3F8F-DFB7-45B1-90F1-63EBA533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4762500" cy="354330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08090D">
              <a:alpha val="88000"/>
            </a:srgbClr>
          </a:solidFill>
          <a:ln xmlns:a="http://schemas.openxmlformats.org/drawingml/2006/main" w="9525">
            <a:solidFill>
              <a:srgbClr val="FFB1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380AB5-DB9E-44A8-A0BD-B837375A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7155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WEEZY ICON CUP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1D5965-DC20-44AC-97FB-21F2AE9D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43050"/>
            <a:ext cx="1562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503"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NAC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4EE9EF-5A8B-422D-A683-BDEA8D0F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4782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 SEP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6D84A1-3C8E-4F87-8A66-9C62FAD1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385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70CEFB-E402-4590-87A2-41B91153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86025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17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5:00–8:00 PM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17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SOLO BR · SOLO ZERO BUILD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17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HASTA 11 PARTIDAS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16A1B1-D41F-4A86-877E-C892D90C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2428875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8090D">
              <a:alpha val="88000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473cae71c44892"/>
          <a:srcRect xmlns:a="http://schemas.openxmlformats.org/drawingml/2006/main" l="12139" t="0" r="121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3476625"/>
            <a:ext cx="1000125" cy="74295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C7064A-EE52-4BE8-BBE8-CE08026C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3855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534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CLIP OFICIAL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9.8 s aprox.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603A40-C4E6-4CA3-9639-E711D2C4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41960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3B22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579423-BC17-4734-B2B8-28DC3772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4767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REFERENCIA MP4</a:t>
            </a:r>
          </a:p>
        </p:txBody>
      </p:sp>
    </p:spTree>
    <p:extLst>
      <p:ext uri="{BB962C8B-B14F-4D97-AF65-F5344CB8AC3E}">
        <p14:creationId xmlns:p14="http://schemas.microsoft.com/office/powerpoint/2010/main" val="5076125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540A6C-9C92-4A80-9D18-1DBD59E0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2895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77F1D5-6294-4BE5-9AF0-9B368728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A9FE6E-9DAE-488F-B5EA-90F19D31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ESCENA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7718FB-135D-4C98-82AB-26BAEF24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5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00:14–00:20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D23F3-0D43-4E99-9C45-23AC89D6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8667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6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Antes de entrar a Competir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51970-1A2E-44A5-AC47-ACA5C54E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90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4AA009-2A37-4472-8136-9953CF4F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90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CAPA PRINCIPAL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D580A7-D99B-4E21-A035-8FF05E3A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485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Checklist visual de acceso. El hero se mantiene como ancla y el checklist ocupa el espacio de lectura.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CC74D1-1721-4E61-874F-E4D5A397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ENTRA / SALE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76953F-41DF-4198-8D0C-A5059698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00:14 aparece checklist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00:15 edad mínima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00:17 AMF/MFA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00:20 corte a puntos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5E5BF5-4ED2-4C76-B017-6C930629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719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MOVIMIENTO / EFECTO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6BF49C-1A51-460A-967F-39234731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81475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Tick-in por requisito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Subrayado naranja en AMF/MFA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Zoom-out para revelar la región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FD1DFC-FC8F-463E-9A34-6A902EC1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86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B7B6DC-7603-40D4-9023-15CDF7AC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768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NOTA DE EDICIÓN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0A1FB2-B85F-43F9-9FCF-B2097B30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959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Estos requisitos salen de la ficha oficial. No sustituirlos por una explicación genérica de elegibilidad.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E86A7C-7C36-4515-8203-3623CB6A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9144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D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581896-D529-4841-843A-CA09ED2E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17C967-387E-45B9-950F-7E1B7F5D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3877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GUION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D73132-5E25-40C8-A1EF-368CAB4E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95950"/>
            <a:ext cx="519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75" i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i="1">
                <a:solidFill>
                  <a:srgbClr val="FFF4E8"/>
                </a:solidFill>
                <a:latin typeface="Arial"/>
                <a:ea typeface="Arial"/>
                <a:cs typeface="Arial"/>
              </a:rPr>
              <a:t>“Antes de jugar, comprueba la edad mínima local, activa AMF o MFA y revisa que la pestaña Competir te muestre la copa en NAC.”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9190C3-965D-4250-BEB4-AB0A3B54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4673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09F826-5213-496A-B3C1-5A325855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38775"/>
            <a:ext cx="2428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ASSETS EN EL PLANO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53BE34-7D03-489B-940D-CB075447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9595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official-event-hero-nac.jpg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YM · emoticono como acento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Checklist editable: edad · AMF/MFA · región NAC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707B37-64C3-4804-98EE-21A1125B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90D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88EB65-841A-4297-9F6C-E38AD3D3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VISTA 03 · 00:14–00:20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F80DFB-19B8-42F4-84FF-508CE305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"/>
            <a:ext cx="1857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ANOTACIONES NO SE EXPORTAN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eaa3dce5943d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8F3A5D-DCEE-49A2-BF9B-BEA4D3E5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D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E3D67F-67A4-40EF-8B5D-8B4805E6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ANTES DE JUGAR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27772F-34DD-4314-A9A3-808BC638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51911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8090D">
              <a:alpha val="88000"/>
            </a:srgbClr>
          </a:solidFill>
          <a:ln xmlns:a="http://schemas.openxmlformats.org/drawingml/2006/main" w="9525">
            <a:solidFill>
              <a:srgbClr val="FFB1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296CD7-E92F-4439-98E9-F5613616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763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BAED46-5851-4526-9BAA-71DAC923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295400"/>
            <a:ext cx="4048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13 años o edad mínima local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A1598F-4ED3-4E1A-8678-E2591AF4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28800"/>
            <a:ext cx="51911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8090D">
              <a:alpha val="88000"/>
            </a:srgbClr>
          </a:solidFill>
          <a:ln xmlns:a="http://schemas.openxmlformats.org/drawingml/2006/main" w="9525">
            <a:solidFill>
              <a:srgbClr val="F43B2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D31AAA-B2D3-417C-B840-61A8F1AD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3B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3B2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EAEBA3-35BF-4B51-9643-6754E904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62150"/>
            <a:ext cx="4048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AMF / MFA habilitada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82D682-ED2D-41E5-BB39-912A26B8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95550"/>
            <a:ext cx="51911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8090D">
              <a:alpha val="88000"/>
            </a:srgbClr>
          </a:solidFill>
          <a:ln xmlns:a="http://schemas.openxmlformats.org/drawingml/2006/main" w="9525">
            <a:solidFill>
              <a:srgbClr val="7EA7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DCF639-6E0C-4EC6-A825-CAF8AC6B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EA7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EA7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569EBF-DCE5-4BC3-83AB-9448CC08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28900"/>
            <a:ext cx="4048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Región: NAC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25F64F-E862-4418-95C4-C2A52009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51911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8090D">
              <a:alpha val="88000"/>
            </a:srgbClr>
          </a:solidFill>
          <a:ln xmlns:a="http://schemas.openxmlformats.org/drawingml/2006/main" w="9525">
            <a:solidFill>
              <a:srgbClr val="B5F06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BFA4F8-61B0-4E48-8CC0-75BB67C8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5F06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5F06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02ADD9C-E69C-4982-9DE2-52ABA694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95650"/>
            <a:ext cx="4048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Revisar pestaña Competir</a:t>
            </a:r>
          </a:p>
        </p:txBody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948d816aa2421d"/>
          <a:stretch xmlns:a="http://schemas.openxmlformats.org/drawingml/2006/main"/>
        </p:blipFill>
        <p:spPr>
          <a:xfrm xmlns:a="http://schemas.openxmlformats.org/drawingml/2006/main">
            <a:off x="6667500" y="1714500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846C9E-ABD7-49A1-B4C6-57BDD8B8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67125"/>
            <a:ext cx="19526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FF6F9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827A1B-137A-496C-991B-7F8C7CC3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24275"/>
            <a:ext cx="1800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CHECKLIST PREVIO</a:t>
            </a:r>
          </a:p>
        </p:txBody>
      </p:sp>
    </p:spTree>
    <p:extLst>
      <p:ext uri="{BB962C8B-B14F-4D97-AF65-F5344CB8AC3E}">
        <p14:creationId xmlns:p14="http://schemas.microsoft.com/office/powerpoint/2010/main" val="2302865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644FB7D-96FD-4FA8-AF5B-C2E2FA01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2895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3D9C0-8F9C-47F4-AEC6-A7DADB10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B69944-32E0-4B52-8A71-03A3B6AC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ESCENA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89710A-AA00-4CE1-AD89-2D197224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5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00:20–00:31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1DB57-BC36-4D2D-BF63-DEDFD856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8667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6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La tabla que decide tus puntos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2ADD6-56C0-4983-BC05-33BEEBD2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90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5F036D-816B-4BB7-94F6-E479D822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90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CAPA PRINCIPAL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48176F-B075-430C-A3E0-9C95F77C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485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Puntuación editable a la izquierda. El arte oficial queda como fondo de apoyo y no compite con los números.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096B81-EF95-47CB-8923-07413167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ENTRA / SALE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712114-1876-4C8E-9457-3C29C287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00:20 Victoria +7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00:22 colocaciones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00:26 eliminación +2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00:31 pasa a meta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1EBC9B-E7B2-4BE3-AB5F-9F072D70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719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MOVIMIENTO / EFECTO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8D6340-BE83-4C17-8FFC-27E5E4AF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81475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Count-up de cada cifra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Entrada de filas por orden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Flash naranja en +2 de eliminación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1CAD24-D968-416F-9823-7C158DD8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86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0881B1-D418-4E93-8141-C28291E9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768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NOTA DE EDICIÓN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481DAF-C2E9-4E75-934B-157A25F0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959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Los valores vienen del feed público del evento. Mantenerlos separados del material visual de cosméticos.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B97713-71D8-454E-818E-D1AC3312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9144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D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2C7B65-42F3-4F10-B3ED-DCA57BB9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812841-55C3-4FA7-BE7C-B88CF421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3877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GUION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6A178C-B400-4183-B7E6-84465920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95950"/>
            <a:ext cx="519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75" i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i="1">
                <a:solidFill>
                  <a:srgbClr val="FFF4E8"/>
                </a:solidFill>
                <a:latin typeface="Arial"/>
                <a:ea typeface="Arial"/>
                <a:cs typeface="Arial"/>
              </a:rPr>
              <a:t>“Victoria Royale suma 7. Segundo lugar, 4. Tercero, 2. Del cuarto al 50, 1. Cada eliminación suma 2.”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9F222B-ABA9-4E99-A7D4-EDA5D4A2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4673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BE8EEF-A8D1-42EE-A735-15FA995D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38775"/>
            <a:ext cx="2428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ASSETS EN EL PLANO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78E3AA-ACFD-4269-8772-487718C5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9595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official-event-hero-nac.jpg · background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Tabla editable de puntos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Weezy Boardbreaker · pico como acento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E72F50-B931-4443-AABD-2EC66A53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90D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4DC9CA-8B3F-4132-8EB3-21CEF40C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VISTA 04 · 00:20–00:31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CD1AAF-368C-4582-B354-D410C093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"/>
            <a:ext cx="1857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ANOTACIONES NO SE EXPORTAN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91bb2584b3447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55CBAC-08A5-4DA5-B4E3-8A36B3A7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D">
              <a:alpha val="7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50804B-D3DA-4E6D-9C45-364105A6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8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PUNTUACIÓN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AAD878-4F28-4C56-ADC7-F44BC043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52500"/>
            <a:ext cx="45243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1131A">
              <a:alpha val="92000"/>
            </a:srgbClr>
          </a:solidFill>
          <a:ln xmlns:a="http://schemas.openxmlformats.org/drawingml/2006/main" w="9525">
            <a:solidFill>
              <a:srgbClr val="F43B2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A30371-90E4-447A-BBCF-99F09B63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525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333D32-C806-45B2-A750-7FED0550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2809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VICTORIA ROYALE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B68545-0355-4DA9-B5F0-99F173ED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009650"/>
            <a:ext cx="600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F43B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3B22"/>
                </a:solidFill>
                <a:latin typeface="Arial"/>
                <a:ea typeface="Arial"/>
                <a:cs typeface="Arial"/>
              </a:rPr>
              <a:t>+7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2C5C2C-9946-442D-A98C-8D65B0A3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76375"/>
            <a:ext cx="45243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1131A">
              <a:alpha val="92000"/>
            </a:srgbClr>
          </a:solidFill>
          <a:ln xmlns:a="http://schemas.openxmlformats.org/drawingml/2006/main" w="9525">
            <a:solidFill>
              <a:srgbClr val="FFB1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4B38F5-E0DC-47D0-AB65-F56E82CB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76375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89A9FF-506F-4DB3-BD13-B77C74F8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809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2.º LUGAR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A9AB8C-3AA1-4DEA-B774-84D6D25D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533525"/>
            <a:ext cx="600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+4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A910B0-D1C8-438B-825B-C5D40D82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00250"/>
            <a:ext cx="45243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1131A">
              <a:alpha val="92000"/>
            </a:srgbClr>
          </a:solidFill>
          <a:ln xmlns:a="http://schemas.openxmlformats.org/drawingml/2006/main" w="9525">
            <a:solidFill>
              <a:srgbClr val="7EA7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F3179A-5A74-4E5F-9F59-CB49195E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0025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8D67F0-F87D-44F1-A185-19C4B493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5025"/>
            <a:ext cx="2809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3.º LUGAR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690E4F-713E-48D2-86AD-46F7FE7C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57400"/>
            <a:ext cx="600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7EA7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EA7FF"/>
                </a:solidFill>
                <a:latin typeface="Arial"/>
                <a:ea typeface="Arial"/>
                <a:cs typeface="Arial"/>
              </a:rPr>
              <a:t>+2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F65C8A1-D724-40EE-901B-8FAE16E6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24125"/>
            <a:ext cx="45243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1131A">
              <a:alpha val="92000"/>
            </a:srgbClr>
          </a:solidFill>
          <a:ln xmlns:a="http://schemas.openxmlformats.org/drawingml/2006/main" w="9525">
            <a:solidFill>
              <a:srgbClr val="FF6F9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DD38D3-B64C-48FB-B6BA-D45DC439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24125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5AB86B-314B-4E9E-ACC0-F83E2647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2809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4.º–50.º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F103F1-AF98-4F5B-AC0E-28D68180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81275"/>
            <a:ext cx="600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FF6F9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6F91"/>
                </a:solidFill>
                <a:latin typeface="Arial"/>
                <a:ea typeface="Arial"/>
                <a:cs typeface="Arial"/>
              </a:rPr>
              <a:t>+1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20AB38-D036-460A-8F1E-DF088B94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48000"/>
            <a:ext cx="45243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1131A">
              <a:alpha val="92000"/>
            </a:srgbClr>
          </a:solidFill>
          <a:ln xmlns:a="http://schemas.openxmlformats.org/drawingml/2006/main" w="9525">
            <a:solidFill>
              <a:srgbClr val="B5F06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9F1B022-E778-469C-9A4A-CA383116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48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F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9E7E75D-2945-4582-B408-D25DF7FD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2809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ELIMINACIÓN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A5620A2-2FD3-470D-8C64-ECD56A9F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05150"/>
            <a:ext cx="600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B5F06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5F06F"/>
                </a:solidFill>
                <a:latin typeface="Arial"/>
                <a:ea typeface="Arial"/>
                <a:cs typeface="Arial"/>
              </a:rPr>
              <a:t>+2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AD3D124-281A-49F0-B7A7-4752ED09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283845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8090D">
              <a:alpha val="88000"/>
            </a:srgbClr>
          </a:solidFill>
          <a:ln xmlns:a="http://schemas.openxmlformats.org/drawingml/2006/main" w="9525">
            <a:solidFill>
              <a:srgbClr val="FFB14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F2D170C-F0A9-4F8B-B7BC-324F2CBA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71650"/>
            <a:ext cx="23050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23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HASTA</a:t>
            </a:r>
          </a:p>
          <a:p xmlns:a="http://schemas.openxmlformats.org/drawingml/2006/main">
            <a:pPr algn="ctr">
              <a:lnSpc>
                <a:spcPct val="88000"/>
              </a:lnSpc>
              <a:buNone/>
              <a:defRPr sz="23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11 PARTIDAS</a:t>
            </a:r>
          </a:p>
        </p:txBody>
      </p:sp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19defc92d4bec"/>
          <a:stretch xmlns:a="http://schemas.openxmlformats.org/drawingml/2006/main"/>
        </p:blipFill>
        <p:spPr>
          <a:xfrm xmlns:a="http://schemas.openxmlformats.org/drawingml/2006/main">
            <a:off x="6477000" y="3143250"/>
            <a:ext cx="1524000" cy="1524000"/>
          </a:xfrm>
          <a:prstGeom xmlns:a="http://schemas.openxmlformats.org/drawingml/2006/main" prst="rect">
            <a:avLst/>
          </a:prstGeom>
        </p:spPr>
      </p:pic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079143C-B78B-47BD-A4CC-ABF636AA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495800"/>
            <a:ext cx="2571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B5F06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4DDDC0F-C1F3-417D-901B-C9210A0E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52950"/>
            <a:ext cx="2419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CADA ELIMINACIÓN CUENTA</a:t>
            </a:r>
          </a:p>
        </p:txBody>
      </p:sp>
    </p:spTree>
    <p:extLst>
      <p:ext uri="{BB962C8B-B14F-4D97-AF65-F5344CB8AC3E}">
        <p14:creationId xmlns:p14="http://schemas.microsoft.com/office/powerpoint/2010/main" val="18516323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56818AD-F34B-4435-AD90-8381FCCF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2895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BED84F-746A-4E08-B1DC-4E05EEFD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0CF217-6123-40D1-933E-D68D018F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ESCENA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8DD3A4-85D6-49A6-889E-25C4D9D8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5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00:31–00:40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402E5C-F1C0-491D-99A8-F5647683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8667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6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Skin y emoticono: dos metas distintas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1CD54B-0FF6-415F-8E4A-A2722B0A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90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0F3623-DB45-4377-AC29-533F1EE4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90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CAPA PRINCIPAL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8F1F86-57CA-4BFB-81B7-600DCC1E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03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La recompensa que interesa queda a la izquierda y ocupa más espacio. YM entra como meta secundaria.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DE238A-57BE-4B24-97D9-C2C71B08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ENTRA / SALE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211245-1682-45A8-A679-A709B9DF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00:31 aparece Top 700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00:35 aparece 8 puntos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00:38 disclaimer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00:40 pasa al plan de partidas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A5D802-7946-40F7-AEEA-341D3FCB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719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MOVIMIENTO / EFECTO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210380-DCB8-485D-B9E4-5F5BA060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81475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Reveal vertical de Weezy + board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YM entra con bounce breve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Separador central permanece fijo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B66117-24D9-4749-8DEF-0FE5AFDA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86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A07536-EB2E-4984-BFF0-3AF0F000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768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NOTA DE EDICIÓN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FB7CBE-F3DA-471D-82BB-89877D29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959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Esta escena debe corregir la confusión más importante: 8 puntos no equivalen al lote Weezy según el feed consultado.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CB783E-3A66-486A-9D1A-505E9CFF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9144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D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ACCBCB-AF2C-47AC-9FF1-4AA0BF42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61A294-B6AF-4492-A417-93189CB7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3877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GUION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B3444D-6DBE-48F4-83AE-ABEDB616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95950"/>
            <a:ext cx="519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75" i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i="1">
                <a:solidFill>
                  <a:srgbClr val="FFF4E8"/>
                </a:solidFill>
                <a:latin typeface="Arial"/>
                <a:ea typeface="Arial"/>
                <a:cs typeface="Arial"/>
              </a:rPr>
              <a:t>“El feed identifica el Top 700 con Weezy y Weezy Board. Alcanzar 8 puntos entrega el emoticono YM.”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EC5142-891E-4B73-8964-AF042AA2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4673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3F420E-75C4-4873-80F1-D88E9F2C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38775"/>
            <a:ext cx="2428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ASSETS EN EL PLANO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F18503-C65E-4BDA-9A88-3B29D5B7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9595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652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character-noisecluegust-images.icon.png · Weezy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backpack-noisecluegust-images.featured.png · Weezy Board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emoticon-noiseclue-images.smallicon.png · YM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FEF198-96CA-4287-8622-8F871873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90D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BCA5D6-2986-405B-8693-F5D81869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VISTA 05 · 00:31–00:40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D76EAB-481D-487D-944F-AB4AB0EB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"/>
            <a:ext cx="1857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ANOTACIONES NO SE EXPORTAN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85A222-D3EB-49E4-9320-A37D0989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6090D"/>
              </a:gs>
              <a:gs pos="58000">
                <a:srgbClr val="3B1018"/>
              </a:gs>
              <a:gs pos="100000">
                <a:srgbClr val="0A0B10"/>
              </a:gs>
            </a:gsLst>
            <a:lin ang="72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674CE7-DEEF-4501-A4DE-CF31C7C9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021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META DEL LOTE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4F9EA2-87E2-4AE9-A0F4-9BFDECF2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009650"/>
            <a:ext cx="95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16645E-6E14-4A93-9B6F-D11AC489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200150"/>
            <a:ext cx="3981450" cy="2876550"/>
          </a:xfrm>
          <a:prstGeom xmlns:a="http://schemas.openxmlformats.org/drawingml/2006/main" prst="roundRect">
            <a:avLst>
              <a:gd name="adj" fmla="val 5298"/>
            </a:avLst>
          </a:prstGeom>
          <a:solidFill xmlns:a="http://schemas.openxmlformats.org/drawingml/2006/main">
            <a:srgbClr val="08090D">
              <a:alpha val="86000"/>
            </a:srgbClr>
          </a:solidFill>
          <a:ln xmlns:a="http://schemas.openxmlformats.org/drawingml/2006/main" w="9525">
            <a:solidFill>
              <a:srgbClr val="FFB1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1929B1-BD04-441E-AAFF-AF60D1BA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3B22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C5ED25-2C39-409A-AD0D-9F89287F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TOP 700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42fbb2947647f2"/>
          <a:stretch xmlns:a="http://schemas.openxmlformats.org/drawingml/2006/main"/>
        </p:blipFill>
        <p:spPr>
          <a:xfrm xmlns:a="http://schemas.openxmlformats.org/drawingml/2006/main">
            <a:off x="590550" y="2014538"/>
            <a:ext cx="1476375" cy="1476375"/>
          </a:xfrm>
          <a:prstGeom xmlns:a="http://schemas.openxmlformats.org/drawingml/2006/main" prst="rect">
            <a:avLst/>
          </a:prstGeom>
        </p:spPr>
      </p:pic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066ae943944ce1"/>
          <a:stretch xmlns:a="http://schemas.openxmlformats.org/drawingml/2006/main"/>
        </p:blipFill>
        <p:spPr>
          <a:xfrm xmlns:a="http://schemas.openxmlformats.org/drawingml/2006/main">
            <a:off x="2247900" y="1809750"/>
            <a:ext cx="1524000" cy="152400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AEC72F-A223-404C-B73B-6F0DD402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95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WEEZY + WEEZY BOARD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BA3F4B-3B73-46BF-86AF-0CA47D41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00150"/>
            <a:ext cx="3752850" cy="2876550"/>
          </a:xfrm>
          <a:prstGeom xmlns:a="http://schemas.openxmlformats.org/drawingml/2006/main" prst="roundRect">
            <a:avLst>
              <a:gd name="adj" fmla="val 5298"/>
            </a:avLst>
          </a:prstGeom>
          <a:solidFill xmlns:a="http://schemas.openxmlformats.org/drawingml/2006/main">
            <a:srgbClr val="08090D">
              <a:alpha val="86000"/>
            </a:srgbClr>
          </a:solidFill>
          <a:ln xmlns:a="http://schemas.openxmlformats.org/drawingml/2006/main" w="9525">
            <a:solidFill>
              <a:srgbClr val="FF6F9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903BB8-D142-4F06-BC0F-A9F9E3CC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447800"/>
            <a:ext cx="13811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F91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E402B3-D230-41BC-9F3B-3702D06D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504950"/>
            <a:ext cx="1190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PUNTOS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3a337632f7434b"/>
          <a:stretch xmlns:a="http://schemas.openxmlformats.org/drawingml/2006/main"/>
        </p:blipFill>
        <p:spPr>
          <a:xfrm xmlns:a="http://schemas.openxmlformats.org/drawingml/2006/main">
            <a:off x="5905500" y="1924050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B9360A-0042-498B-B550-374BAA9C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957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YM · EMOTICONO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AE3DFD-682B-4DEB-A42A-54BCB1BC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24350"/>
            <a:ext cx="2857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FFB14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643C84B-D36E-4E3E-A6D7-E9235E50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81500"/>
            <a:ext cx="270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NO CONFUNDIR LAS METAS</a:t>
            </a:r>
          </a:p>
        </p:txBody>
      </p:sp>
    </p:spTree>
    <p:extLst>
      <p:ext uri="{BB962C8B-B14F-4D97-AF65-F5344CB8AC3E}">
        <p14:creationId xmlns:p14="http://schemas.microsoft.com/office/powerpoint/2010/main" val="14282791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3CFFDA5-26C9-48DA-BBD4-6B1C1865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2895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A4A87-BF40-4B05-957A-0EBBD52B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966AB5-3AAF-4A88-B8CC-7D726951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ESCENA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E0A2B-E560-4203-A762-09952B82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5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00:40–00:54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998C2-91F6-4839-806D-D25F1957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8667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6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Plan sugerido para las 11 partidas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5C7C3C-DE68-48C3-85C0-92D172EA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90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32B61-FFE9-4FFD-826B-B3F4AEAD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90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CAPA PRINCIPAL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C6DFD2-7BFD-436C-B4FA-BCEB426F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197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Ruta táctica recomendada. La etiqueta deja claro que es estrategia editorial, no regla oficial.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D82CAD-19BE-4D26-9809-B73F1E54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ENTRA / SALE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FEECFC-59FC-4AE0-B9FA-947CD148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8627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00:40 aparece barra de 11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00:43 bloque 1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00:47 bloque 2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00:51 bloque 3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00:54 pasa a ejemplos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D54C8C-ED03-4117-93CF-F062DABA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719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MOVIMIENTO / EFECTO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E10FA4-F099-4AED-9DDF-28D28190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81475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Barra se llena por grupos 3 / 5 / 3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Rótulos entran con wipe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Skin hace push-in al final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12123F-71DC-483E-AA05-918AE4A1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86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3FBF61-759A-4325-8D9A-CFF3DC34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768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NOTA DE EDICIÓN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935A9F-1745-4BFF-824F-DB331CFB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959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Estas decisiones son una sugerencia para el video. No atribuirlas a Epic ni presentarlas como parte del reglamento.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421609-05D2-4303-B04D-96DE2EB3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9144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D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0065EB-1317-4E0A-A8DA-8790050D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68EE92-1684-421C-8F08-F379C657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3877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GUION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9D6865-5FD9-4BFF-85BD-AEEBD102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95950"/>
            <a:ext cx="519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75" i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i="1">
                <a:solidFill>
                  <a:srgbClr val="FFF4E8"/>
                </a:solidFill>
                <a:latin typeface="Arial"/>
                <a:ea typeface="Arial"/>
                <a:cs typeface="Arial"/>
              </a:rPr>
              <a:t>“Con 11 partidas disponibles, juega por consistencia: asegura los primeros puntos, mantén el ritmo y protege el final.”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D4E645-D158-44DC-BE9E-DE4B2D63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4673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ED4787-D315-4408-A9ED-3496740E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38775"/>
            <a:ext cx="2428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ASSETS EN EL PLANO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28B271-316E-47A6-AF32-80CE2DC0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9595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character-noisecluegust-images.featured.png · ancla visual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Barra editable de 11 partidas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Rótulo visible: “PLAN TÁCTICO SUGERIDO”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6BA4D3-6034-448A-ABCB-4974A750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90D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5B7D63-7002-460C-A12D-4D3690D2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VISTA 06 · 00:40–00:54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1D9DEF-93E8-496C-BD39-6A095985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"/>
            <a:ext cx="1857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ANOTACIONES NO SE EXPORTAN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9A0143-4FFF-45C3-A593-43DD2902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5C4FAF-9655-4277-97A3-E51F23A8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2383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EA7FF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C8C06E-C984-428F-B401-4448A0A2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2047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 TÁCTICO SUGERIDO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318A52-369F-4779-A7D6-93E86440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JUEGA POR CONSISTENCIA</a:t>
            </a:r>
          </a:p>
        </p:txBody>
      </p:sp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43dac822454520"/>
          <a:stretch xmlns:a="http://schemas.openxmlformats.org/drawingml/2006/main"/>
        </p:blipFill>
        <p:spPr>
          <a:xfrm xmlns:a="http://schemas.openxmlformats.org/drawingml/2006/main">
            <a:off x="628650" y="1704975"/>
            <a:ext cx="2381250" cy="238125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1B9BE3-1080-49CC-9A15-3338FCFE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14500"/>
            <a:ext cx="1524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8090D">
              <a:alpha val="88000"/>
            </a:srgbClr>
          </a:solidFill>
          <a:ln xmlns:a="http://schemas.openxmlformats.org/drawingml/2006/main" w="9525">
            <a:solidFill>
              <a:srgbClr val="F43B2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A1F81F-73A4-4602-A63C-FA2AE4A7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2405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43B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3B22"/>
                </a:solidFill>
                <a:latin typeface="Arial"/>
                <a:ea typeface="Arial"/>
                <a:cs typeface="Arial"/>
              </a:rPr>
              <a:t>01–03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26BE58-C056-48BC-8BEE-2A0DD90C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43150"/>
            <a:ext cx="1257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8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Asegura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2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los primeros puntos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0303A6-0BA8-4885-8B0E-EA119CFD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1907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42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8BBC8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A801CE-6765-4DEB-B4C2-2D48B929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714500"/>
            <a:ext cx="1524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8090D">
              <a:alpha val="88000"/>
            </a:srgbClr>
          </a:solidFill>
          <a:ln xmlns:a="http://schemas.openxmlformats.org/drawingml/2006/main" w="9525">
            <a:solidFill>
              <a:srgbClr val="FFB1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3FE009-BFEA-4006-9E22-7423A423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2405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04–08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BCE557-7307-40A3-ACEF-91CD037B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43150"/>
            <a:ext cx="1257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Mantén ritmo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2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y busca ventaja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FFFDB4-1AFF-42B2-A347-AE8A8EC9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42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8BBC8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AF89AA-3A99-4474-A18A-4B225C5F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14500"/>
            <a:ext cx="1524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8090D">
              <a:alpha val="88000"/>
            </a:srgbClr>
          </a:solidFill>
          <a:ln xmlns:a="http://schemas.openxmlformats.org/drawingml/2006/main" w="9525">
            <a:solidFill>
              <a:srgbClr val="B5F06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DAD8B6-207B-4E9A-959E-B1D8E786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2405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5F06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5F06F"/>
                </a:solidFill>
                <a:latin typeface="Arial"/>
                <a:ea typeface="Arial"/>
                <a:cs typeface="Arial"/>
              </a:rPr>
              <a:t>09–11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FD8EDB-FCBA-4FA7-9A09-0E389F6C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43150"/>
            <a:ext cx="1257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1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Protege la posición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2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y no regales partidas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6DCB118-A910-4152-88DC-E9407084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290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B3A3F8B-62C3-4A11-A655-0F31A1FF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14725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090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090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855237-833F-4B79-8C8C-E3584D50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290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71AADE8-4E3C-446B-81BA-AC951FDF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514725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090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090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DCF5966-3136-442B-B8AE-0E9142B7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290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6370700-5EBF-468F-B042-F2534981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14725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090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090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FB0FA50-3B95-4CEE-A17D-3C838D84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B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C848DD5-3E6D-4407-A81E-7D63A911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14725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090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090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8612AB5-277C-4106-9279-24434F6E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4290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B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E463856-59CC-491C-9FFB-FF5DBDC5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14725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090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090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61F5CD4-C84E-4865-B339-1921A0D6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290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B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E4B30DA-F860-480F-B846-2B2F208E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14725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090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090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5B810CD-B403-455B-9991-A30B73E2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290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B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83C6B38-946D-40F8-8F1B-28BFDA96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14725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090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090D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3F60D04-9595-40D9-A6A6-FD48D422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290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B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5738A29-A033-471D-9F5E-383E6C07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14725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090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090D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855E7F8-9CED-4D31-9410-B501294E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290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B5F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CD14561-2A13-4794-A03D-97955D6E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14725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090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090D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61C03CA-5901-49E3-9929-2E2D977E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290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B5F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FB25E5D-582F-4785-9AA1-9A87F23D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14725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090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090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7844927-719B-4DBB-8D4E-822F2FD0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290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B5F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2117FC1-D915-4EB7-AAE1-2D80A363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14725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090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090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1C54794-BA53-446E-9BAC-8EBED6AB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433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11 PARTIDAS DISPONIBLES</a:t>
            </a:r>
          </a:p>
        </p:txBody>
      </p:sp>
    </p:spTree>
    <p:extLst>
      <p:ext uri="{BB962C8B-B14F-4D97-AF65-F5344CB8AC3E}">
        <p14:creationId xmlns:p14="http://schemas.microsoft.com/office/powerpoint/2010/main" val="561777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DE2DC26-955C-4D6E-BDCF-3087C3A6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2895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0CAC89-099A-4361-898E-5F493EDF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D69E5C-A0D9-4BF4-A872-F309E294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ESCENA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237C54-A142-4EEA-A47A-FE930D51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5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00:54–01:04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60343E-E098-4FFE-9C6C-49E89F5D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8667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6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Cómo llegar a 8 puntos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CF7DD-E7A8-482C-BCF6-36B25AE7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90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993382-A826-4BF3-A2A0-A22FAB15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90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CAPA PRINCIPAL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B87CC6-A982-4F1F-9C7F-71015A88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Ejemplos aritméticos editables. El objetivo es entender el umbral de YM sin venderlo como la skin.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152EEA-263B-41AD-BAC7-83D769E5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ENTRA / SALE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080826-5A89-4E04-A5BF-004E48EC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00:54 ejemplo 1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00:57 ejemplo 2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01:00 ejemplo 3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01:04 vuelve a la meta Top 700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39699E-0CCC-418F-AA1F-A87EE57E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719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MOVIMIENTO / EFECTO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9660BF-D2DC-426B-9463-1CCB6CE8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81475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Cada suma entra con count-up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Resultado se ilumina al final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 por golpe musical entre ejemplos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1D1C0E-0BE7-4474-B0F5-7853C5A8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86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9A4903-C1D0-4716-9B8E-786F6FA0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768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NOTA DE EDICIÓN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1C9045-CFCC-4126-886A-94B153FB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959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Los cálculos se derivan directamente de la tabla de puntos. La frase final debe recordar que Top 700 es la meta del lote Weezy.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94E9F9-A006-44E0-8D97-0652015D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9144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D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526604-E316-41FB-A6E3-CB03EC55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779D4E-ACED-4F6D-B7A2-AB7F862C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3877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GUION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F81AEC-EB15-41C8-9E57-70E42F1D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95950"/>
            <a:ext cx="519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75" i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i="1">
                <a:solidFill>
                  <a:srgbClr val="FFF4E8"/>
                </a:solidFill>
                <a:latin typeface="Arial"/>
                <a:ea typeface="Arial"/>
                <a:cs typeface="Arial"/>
              </a:rPr>
              <a:t>“Dos ejemplos llegan a 8: segundo lugar más 2 eliminaciones, o tercero más 3 eliminaciones. Una victoria con una eliminación ya suma 9.”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BF5F6E-3B03-4F3F-B8CD-E3BAE3DD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4673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E2AFF4-8943-4429-8263-0026756A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38775"/>
            <a:ext cx="2428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ASSETS EN EL PLANO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BD9A45-A007-4AB5-AFFB-FE8DB7ED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9595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Tres ecuaciones editables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YM como indicador de 8 puntos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Weezy + Weezy Board como objetivo separado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118993-91E8-4BE1-91D4-E27D18E5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90D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7D1836-7E7F-41C7-BDC8-05916489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VISTA 07 · 00:54–01:04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884C6E-CAF6-426D-9058-7222073A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"/>
            <a:ext cx="1857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ANOTACIONES NO SE EXPORTAN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45CEBF-33A3-46F5-B329-EC710ED7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2090D"/>
              </a:gs>
              <a:gs pos="58000">
                <a:srgbClr val="34111A"/>
              </a:gs>
              <a:gs pos="100000">
                <a:srgbClr val="0A0B10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10FA44-30E2-4F0F-B46E-909CBC00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EJEMPLOS DE PUNTOS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334B63-9FB8-44A8-9A71-B38877F2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5048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8090D">
              <a:alpha val="88000"/>
            </a:srgbClr>
          </a:solidFill>
          <a:ln xmlns:a="http://schemas.openxmlformats.org/drawingml/2006/main" w="9525">
            <a:solidFill>
              <a:srgbClr val="FFB1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E3889C-EC49-4C2D-AA14-CDE4EA5F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2.º + 2 ELIMINACIONES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F62C69-BC7A-4E26-99EE-C0976AE9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20967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4 + 4 = 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AB93AC-D414-4499-ACEE-2AABEAF6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85950"/>
            <a:ext cx="5048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8090D">
              <a:alpha val="88000"/>
            </a:srgbClr>
          </a:solidFill>
          <a:ln xmlns:a="http://schemas.openxmlformats.org/drawingml/2006/main" w="9525">
            <a:solidFill>
              <a:srgbClr val="7EA7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5A69CD-9026-42D6-A0AF-17B7D702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3.º + 3 ELIMINACIONES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9369F9-D3B2-457D-AA25-0B2054A5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9072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7EA7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EA7FF"/>
                </a:solidFill>
                <a:latin typeface="Arial"/>
                <a:ea typeface="Arial"/>
                <a:cs typeface="Arial"/>
              </a:rPr>
              <a:t>2 + 6 = 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B7F0FD-A853-4F49-8A65-249E491E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0"/>
            <a:ext cx="5048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8090D">
              <a:alpha val="88000"/>
            </a:srgbClr>
          </a:solidFill>
          <a:ln xmlns:a="http://schemas.openxmlformats.org/drawingml/2006/main" w="9525">
            <a:solidFill>
              <a:srgbClr val="F43B2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E6C005-E30E-42D1-8193-1C7380F7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VICTORIA + 1 ELIMINACIÓN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804B3C-7177-496D-8835-6C406500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7177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F43B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3B22"/>
                </a:solidFill>
                <a:latin typeface="Arial"/>
                <a:ea typeface="Arial"/>
                <a:cs typeface="Arial"/>
              </a:rPr>
              <a:t>7 + 2 = 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E261C8-0150-4719-A1B4-13DCB0C0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295400"/>
            <a:ext cx="2381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8090D">
              <a:alpha val="88000"/>
            </a:srgbClr>
          </a:solidFill>
          <a:ln xmlns:a="http://schemas.openxmlformats.org/drawingml/2006/main" w="9525">
            <a:solidFill>
              <a:srgbClr val="FF6F9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466075-51C2-496D-B9C2-65AF9F24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049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6F9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6F91"/>
                </a:solidFill>
                <a:latin typeface="Arial"/>
                <a:ea typeface="Arial"/>
                <a:cs typeface="Arial"/>
              </a:rPr>
              <a:t>8 PUNTOS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336DF5-5A01-4D94-A99C-B6D481F0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1714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938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YM</a:t>
            </a:r>
          </a:p>
        </p:txBody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1270abb8764ed1"/>
          <a:stretch xmlns:a="http://schemas.openxmlformats.org/drawingml/2006/main"/>
        </p:blipFill>
        <p:spPr>
          <a:xfrm xmlns:a="http://schemas.openxmlformats.org/drawingml/2006/main">
            <a:off x="6705600" y="2724150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CDBD6E-A1A0-4D02-B70A-09B9890D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67200"/>
            <a:ext cx="27146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FFB14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537928-22F7-4F20-BC99-15983812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24350"/>
            <a:ext cx="2562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TOP 700 = META DEL LOTE</a:t>
            </a:r>
          </a:p>
        </p:txBody>
      </p:sp>
    </p:spTree>
    <p:extLst>
      <p:ext uri="{BB962C8B-B14F-4D97-AF65-F5344CB8AC3E}">
        <p14:creationId xmlns:p14="http://schemas.microsoft.com/office/powerpoint/2010/main" val="1127793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CDCFE7F-B206-4E88-A814-41751DB5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2895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9C623-1EA9-4707-94AF-16B2D039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F9DE8D-20E1-4083-8312-D786BBD6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ESCENA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FD4A2-6936-4B7E-A960-B28B42A9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5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01:04–01:13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37421C-6CBF-4BEF-8B52-A476FC20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8667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6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Si empatas, el desempate importa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1E289-6E5E-4ACE-92CA-B2A94F03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90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7ECE00-7124-4176-AD31-21A2662F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90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CAPA PRINCIPAL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319822-32E3-4E00-9395-4F5589C0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062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Jerarquía editable de desempates junto a un personaje en segundo plano para mantener energía visual.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E113D3-FBCF-4168-8B05-1651E390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ENTRA / SALE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88511A-0BCB-4841-90F0-7E3B5A8F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01:04 aparece 1.º criterio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01:07 recorre criterios 2–4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01:11 remarca consistencia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01:13 recompensa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AB70BD-5370-4218-88E0-5B5CCC80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719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MOVIMIENTO / EFECTO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79D351-3E50-405B-AE1A-4D794350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81475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 sube por filas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Resalte de criterio activo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Parallax mínimo en el render de Weezy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E3D660-B7F4-43E4-A244-32DA56A5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86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2B9617-2AC5-4A27-9516-888475AD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768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NOTA DE EDICIÓN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E1511E-60B3-4C81-BE0C-4A0123F0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959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La lista sigue el orden del resumen del feed consultado. No convertirla en consejo oficial fuera de la fuente.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BA3FCC-9109-43D3-ACA5-5CF2F2BF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9144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D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A36913-DAD6-4F80-8E69-0CC61D1F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7A8F9B-7220-4B18-9679-F1C6A979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3877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GUION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60AFF8-3108-44E9-9D8F-6B478A2F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95950"/>
            <a:ext cx="519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75" i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i="1">
                <a:solidFill>
                  <a:srgbClr val="FFF4E8"/>
                </a:solidFill>
                <a:latin typeface="Arial"/>
                <a:ea typeface="Arial"/>
                <a:cs typeface="Arial"/>
              </a:rPr>
              <a:t>“Si hay empate, cuentan las victorias, el promedio de eliminaciones, el desempate de colocación y el tiempo promedio con vida.”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21F66F-EED1-41D4-B2F5-08CA3510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4673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38640B-F7CC-42CE-B884-C5A5A064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38775"/>
            <a:ext cx="2428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ASSETS EN EL PLANO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66C9AD-007E-4E82-A702-0B9488A6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9595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official-event-hero-nac.jpg · fondo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Jerarquía de desempates editable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Texto editorial: “LA CONSISTENCIA TAMBIÉN CUENTA”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4E3724-06B5-4804-A5EE-9F2BDBAE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90D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4D3E1D-F906-4646-8A40-6ADB3CB4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VISTA 08 · 01:04–01:13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EC7489-E552-4D46-A454-1D3CFDE4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"/>
            <a:ext cx="1857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ANOTACIONES NO SE EXPORTAN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b5ea55c5d84cd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81A971-9DB1-44EC-A6CF-A294A0C6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D">
              <a:alpha val="6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91127A-135C-4461-9154-9105EB00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953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DESEMPATE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1E5AFB-DB5A-4C0C-9886-6CB57725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144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FB14A"/>
                </a:solidFill>
                <a:latin typeface="Arial"/>
                <a:ea typeface="Arial"/>
                <a:cs typeface="Arial"/>
              </a:rPr>
              <a:t>La consistencia también cuenta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4A798E-01F4-4528-9E58-5ADE9E21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90650"/>
            <a:ext cx="5334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8090D">
              <a:alpha val="90000"/>
            </a:srgbClr>
          </a:solidFill>
          <a:ln xmlns:a="http://schemas.openxmlformats.org/drawingml/2006/main" w="9525">
            <a:solidFill>
              <a:srgbClr val="F43B2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2C8AF6-9888-411E-95DB-D0296FE3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30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3B2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3B2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81D10D-E3DA-436E-A0B2-D817E6AA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5240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719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Victorias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165D98-5326-4748-BEC9-7E70BD27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19300"/>
            <a:ext cx="5334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8090D">
              <a:alpha val="90000"/>
            </a:srgbClr>
          </a:solidFill>
          <a:ln xmlns:a="http://schemas.openxmlformats.org/drawingml/2006/main" w="9525">
            <a:solidFill>
              <a:srgbClr val="FFB1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13AED4-D4A0-4240-ACA1-49A95A0B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30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8EE048-B203-415A-8790-C7275C0E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526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719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Promedio de eliminaciones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31E2B2-DD2E-487A-9991-5622BE4B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47950"/>
            <a:ext cx="5334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8090D">
              <a:alpha val="90000"/>
            </a:srgbClr>
          </a:solidFill>
          <a:ln xmlns:a="http://schemas.openxmlformats.org/drawingml/2006/main" w="9525">
            <a:solidFill>
              <a:srgbClr val="7EA7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179EB3-AF50-4A9B-ABF3-4B48697D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30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EA7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EA7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EB2524-D8CC-4BC9-8DE5-E92C7F29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813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719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Promedio del desempate de colocación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4DE2EB-2BDA-40DA-825A-AF235B52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76600"/>
            <a:ext cx="5334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8090D">
              <a:alpha val="90000"/>
            </a:srgbClr>
          </a:solidFill>
          <a:ln xmlns:a="http://schemas.openxmlformats.org/drawingml/2006/main" w="9525">
            <a:solidFill>
              <a:srgbClr val="B5F06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10323A-1CC2-42A2-AB44-76417E0F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30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5F06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5F06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E4552B8-7907-4C5C-AFD0-5D97D933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099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719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Tiempo promedio con vida</a:t>
            </a:r>
          </a:p>
        </p:txBody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e71bfff4334379"/>
          <a:stretch xmlns:a="http://schemas.openxmlformats.org/drawingml/2006/main"/>
        </p:blipFill>
        <p:spPr>
          <a:xfrm xmlns:a="http://schemas.openxmlformats.org/drawingml/2006/main">
            <a:off x="6457950" y="1905000"/>
            <a:ext cx="2190750" cy="219075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F796BBB-AC7A-42FD-B0AC-35A1153D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14850"/>
            <a:ext cx="27146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FFB14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9DFF6F-DE0B-443D-AE6D-4CCA2285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72000"/>
            <a:ext cx="2562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JUEGA TODAS LAS QUE PUEDAS</a:t>
            </a:r>
          </a:p>
        </p:txBody>
      </p:sp>
    </p:spTree>
    <p:extLst>
      <p:ext uri="{BB962C8B-B14F-4D97-AF65-F5344CB8AC3E}">
        <p14:creationId xmlns:p14="http://schemas.microsoft.com/office/powerpoint/2010/main" val="5584278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836AF6-04E7-49BC-9DFD-A9D7E6B9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2895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196EA-BFA9-42BC-839B-1B9F2B17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A09283-4268-41E9-BE72-24C29E2D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ESCENA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4C675-17BE-49AC-B3E5-D2911CE6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5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01:13–01:21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02953A-8F55-46E1-B5D8-A3E3B4C1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8667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6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Revela la recompensa correcta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86D54C-068A-46AD-8929-4777D2C4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90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996F5D-0C99-47D9-A904-6FB19007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90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CAPA PRINCIPAL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DA7161-028F-41F9-A224-29FD9FFA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56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Plano final de premios. La tarjeta de Top 700 es dominante para que la skin sea el payoff del video.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36228A-CE11-4982-87DD-92E02297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ENTRA / SALE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D880FE-9491-4BE5-A1A9-351263A7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01:13 Top 700 entra primero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01:16 Weezy Board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01:18 YM como nota secundaria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01:21 cierre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1D9B69-FC92-4EC4-8C84-BDFAD160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719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MOVIMIENTO / EFECTO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520359-DB7E-4868-9019-D80F5B79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81475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Weezy scale-up 94% → 100%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Board entra con slide corto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YM queda al 70% de escala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E044A7-56AB-42BF-87DC-1E826182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86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7EE775-A383-47AA-A12E-FF98E389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768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NOTA DE EDICIÓN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6CBD43-90BF-4AD2-AD94-B3D88316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959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El orden visual refuerza la pregunta del video: cómo buscar la skin. Mantener YM como recompensa diferente.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DEC2BE-9A2F-4BD9-8A8A-C6D6BA93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9144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D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72C508-D323-4E5F-940B-C432A924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725B7E-4B1E-4694-9932-C7C70A60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3877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GUION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CEDBC2-A1DE-441E-934E-E17E1494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95950"/>
            <a:ext cx="519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75" i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i="1">
                <a:solidFill>
                  <a:srgbClr val="FFF4E8"/>
                </a:solidFill>
                <a:latin typeface="Arial"/>
                <a:ea typeface="Arial"/>
                <a:cs typeface="Arial"/>
              </a:rPr>
              <a:t>“Para buscar la skin, apunta al Top 700: el feed identifica Weezy y Weezy Board. YM queda ligado a la meta de 8 puntos.”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BE5351-55FF-4D95-863E-09B5A390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4673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A81236-3854-466E-A54B-3D8EBCD3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38775"/>
            <a:ext cx="2428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ASSETS EN EL PLANO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103BE1-8086-4256-8396-096E6848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9595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916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character-noisecluegust-images.featured.png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backpack-noisecluegust-images.featured.png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emoticon-noiseclue-images.smallicon.png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Rótulos: “TOP 700” y “8 PUNTOS”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AD1E5C-454F-44E6-A024-86AA9BAA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90D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66F275-BF30-42F4-9BDA-5CA27841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VISTA 09 · 01:13–01:21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347FB7-2795-4833-811A-96CE2BE2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"/>
            <a:ext cx="1857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ANOTACIONES NO SE EXPORTAN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FF0C78-B79C-46D9-B411-3D846546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0A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548E56-AA92-477D-AB74-23CAC4AF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PAYOFF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BD2180-5F36-4271-AA6D-56083189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5143500" cy="31623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08090D">
              <a:alpha val="90000"/>
            </a:srgbClr>
          </a:solidFill>
          <a:ln xmlns:a="http://schemas.openxmlformats.org/drawingml/2006/main" w="9525">
            <a:solidFill>
              <a:srgbClr val="FFB1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A14A78-C6E5-4FFC-A9B4-A5A16E48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3B22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19D6F4-DAEC-4A5D-97BE-BD68B7FE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TOP 700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389a6037c040bb"/>
          <a:stretch xmlns:a="http://schemas.openxmlformats.org/drawingml/2006/main"/>
        </p:blipFill>
        <p:spPr>
          <a:xfrm xmlns:a="http://schemas.openxmlformats.org/drawingml/2006/main">
            <a:off x="704850" y="1733550"/>
            <a:ext cx="2333625" cy="2333625"/>
          </a:xfrm>
          <a:prstGeom xmlns:a="http://schemas.openxmlformats.org/drawingml/2006/main" prst="rect">
            <a:avLst/>
          </a:prstGeom>
        </p:spPr>
      </p:pic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0fa110083d43e4"/>
          <a:stretch xmlns:a="http://schemas.openxmlformats.org/drawingml/2006/main"/>
        </p:blipFill>
        <p:spPr>
          <a:xfrm xmlns:a="http://schemas.openxmlformats.org/drawingml/2006/main">
            <a:off x="3238500" y="1905000"/>
            <a:ext cx="1666875" cy="1666875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D48F39-E0E4-49EE-95A4-790E1D73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WEEZY + WEEZY BOARD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6FDC02-C779-47B4-A62F-54A77007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09700"/>
            <a:ext cx="2428875" cy="2428875"/>
          </a:xfrm>
          <a:prstGeom xmlns:a="http://schemas.openxmlformats.org/drawingml/2006/main" prst="roundRect">
            <a:avLst>
              <a:gd name="adj" fmla="val 6275"/>
            </a:avLst>
          </a:prstGeom>
          <a:solidFill xmlns:a="http://schemas.openxmlformats.org/drawingml/2006/main">
            <a:srgbClr val="08090D">
              <a:alpha val="90000"/>
            </a:srgbClr>
          </a:solidFill>
          <a:ln xmlns:a="http://schemas.openxmlformats.org/drawingml/2006/main" w="9525">
            <a:solidFill>
              <a:srgbClr val="FF6F9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F8BF7D-1112-428F-B2F5-9E58ABFC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57350"/>
            <a:ext cx="13811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F91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764EAE-AEBA-4938-9664-371FD2B3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14500"/>
            <a:ext cx="1190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PUNTOS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f5347772504aab"/>
          <a:stretch xmlns:a="http://schemas.openxmlformats.org/drawingml/2006/main"/>
        </p:blipFill>
        <p:spPr>
          <a:xfrm xmlns:a="http://schemas.openxmlformats.org/drawingml/2006/main">
            <a:off x="6629400" y="2095500"/>
            <a:ext cx="1381125" cy="1381125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A9570F-1001-4DB7-98B9-E82318FC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662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YM</a:t>
            </a:r>
          </a:p>
        </p:txBody>
      </p:sp>
    </p:spTree>
    <p:extLst>
      <p:ext uri="{BB962C8B-B14F-4D97-AF65-F5344CB8AC3E}">
        <p14:creationId xmlns:p14="http://schemas.microsoft.com/office/powerpoint/2010/main" val="7111384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397104-BB7E-4AF6-9522-2C16245F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2895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B9E019-64C1-4B04-90A0-DC894F11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6750F-FD4E-48B2-935E-D18ECC64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ESCENA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C0C6C2-FC68-4DE4-ABB8-3BC86FEF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5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01:21–01:30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E1183E-F4CF-4422-B8E5-E65DE803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8667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6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Cierre: entra preparado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08EBDC-5E88-4448-BA6A-742118B1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90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BBA2B-86C1-48D7-B54A-E8143FFE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90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CAPA PRINCIPAL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8EB875-D621-4868-AB14-D9BE5091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Hero oficial más tarjeta final. La llamada a la acción resume meta, horario y verificación en el cliente.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CC80D5-5E3A-42C5-AA89-EA42E349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ENTRA / SALE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D2F313-5F64-4C37-9507-2631BFAA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01:21 congela hero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01:23 tarjeta entra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01:27 se remarca Top 700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01:30 fundido a negro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6B1309-2BF1-4CD7-A5CC-585FDD43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719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MOVIMIENTO / EFECTO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693DC3-157E-48BD-A9E0-3CC93C95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81475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Freeze de 8 frames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Card fade-up 240 ms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Subrayado de Top 700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Fade-out final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DAF3E0-3BB6-4EB4-9243-7E9A3119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86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4EBAD9-8DB8-490C-8684-D3FA5775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768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NOTA DE EDICIÓN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7B1D77-B639-4A2C-A255-1C8A4248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959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La última frase debe mantener el caveat: reglamento, feed y premios pueden actualizarse antes del inicio.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E92F88-672A-4091-B8C8-A91F2F17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9144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D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D85A3B-FCC2-4E9C-8A1F-220ECA1B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5BFB74-C574-425D-80A3-B01D8EB5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3877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GUION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B84690-3E37-4630-A5DF-A6F2BE38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95950"/>
            <a:ext cx="519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75" i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i="1">
                <a:solidFill>
                  <a:srgbClr val="FFF4E8"/>
                </a:solidFill>
                <a:latin typeface="Arial"/>
                <a:ea typeface="Arial"/>
                <a:cs typeface="Arial"/>
              </a:rPr>
              <a:t>“Juega la copa en NAC, aprovecha las 11 partidas y busca la consistencia que te acerque al Top 700. Revisa las reglas en el cliente.”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27C9BC-66DD-4B07-B9A8-38014227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4673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1B4901-D19A-4B9C-90AC-F092F843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38775"/>
            <a:ext cx="2428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ASSETS EN EL PLANO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F2DEB3-93F1-40B5-87EC-E0E48908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9595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official-event-hero-nac.jpg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Tarjeta editable: “NAC · 12 SEP · 5–8 PM”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CTA: “BUSCA EL TOP 700”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CF400C-D236-46F4-9FE4-3D0F8B3D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90D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DE690F-1047-4E51-BC06-B378B848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VISTA 10 · 01:21–01:30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612BDA-B202-4946-AEB3-B74C87E7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"/>
            <a:ext cx="1857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ANOTACIONES NO SE EXPORTAN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1e61b9b51c45e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727945-9329-4BA1-A998-E91E1E9E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D">
              <a:alpha val="4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31B3A7-2AC2-47E9-99D3-3363F9C4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81534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8090D">
              <a:alpha val="86000"/>
            </a:srgbClr>
          </a:solidFill>
          <a:ln xmlns:a="http://schemas.openxmlformats.org/drawingml/2006/main" w="9525">
            <a:solidFill>
              <a:srgbClr val="F43B2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F2BE08-7CAB-40C1-B8DC-85DEDA2C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BUSCA EL TOP 700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8FEA4A-D9E4-44D7-8DCD-01C4F185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14550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NAC · 12 SEP · 5–8 PM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37AAB2-8499-4277-A5DB-D33CC8DC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762250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630571-2327-407A-B2F9-B9E6327E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09900"/>
            <a:ext cx="676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11 PARTIDAS · SOLO BR / SOLO ZERO BUILD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54395B-7DA9-4B0C-8EA0-3699EC14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67100"/>
            <a:ext cx="657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8BBC8"/>
                </a:solidFill>
                <a:latin typeface="Arial"/>
                <a:ea typeface="Arial"/>
                <a:cs typeface="Arial"/>
              </a:rPr>
              <a:t>REVISA REGLAMENTO Y PREMIOS EN EL CLIENTE</a:t>
            </a:r>
          </a:p>
        </p:txBody>
      </p:sp>
    </p:spTree>
    <p:extLst>
      <p:ext uri="{BB962C8B-B14F-4D97-AF65-F5344CB8AC3E}">
        <p14:creationId xmlns:p14="http://schemas.microsoft.com/office/powerpoint/2010/main" val="21183116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2026-09-10T17:27:51.5230000Z</dcterms:created>
  <dcterms:modified xsi:type="dcterms:W3CDTF">2026-09-10T17:27:51.5230000Z</dcterms:modified>
</coreProperties>
</file>